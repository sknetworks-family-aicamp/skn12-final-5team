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Helvetica Neue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A8E9A6-4640-41F6-B256-E020F65A51D1}">
  <a:tblStyle styleId="{C5A8E9A6-4640-41F6-B256-E020F65A51D1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 b="off" i="off"/>
      <a:tcStyle>
        <a:fill>
          <a:solidFill>
            <a:srgbClr val="E3E5E8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4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f98fccc7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f98fccc7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f98fccc7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f98fccc7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3b37eaf3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3b37eaf3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3b37eaf38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3b37eaf3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3b37eaf38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3b37eaf38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3b37eaf38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3b37eaf38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3b37eaf38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3b37eaf38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3b37eaf38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3b37eaf38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3b37eaf38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3b37eaf38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3b37eaf3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3b37eaf3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f98fccc7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f98fccc7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f98fccc7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f98fccc7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98fccc7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f98fccc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f98fccc7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f98fccc7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f98fccc7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f98fccc7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f98fccc7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f98fccc7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f98fccc7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f98fccc7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3b37eaf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3b37eaf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3b37eaf3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3b37eaf3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3b37eaf3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73b37eaf3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3b37eaf3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3b37eaf3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3b37eaf3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3b37eaf3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3b37eaf3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3b37eaf3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3b37eaf3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3b37eaf3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3b37eaf3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3b37eaf3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3b37eaf3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3b37eaf3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3b37eaf3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3b37eaf3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3b37eaf3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73b37eaf3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3b37eaf3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3b37eaf3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3b37eaf38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73b37eaf3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3b37eaf3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3b37eaf3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Main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Main_01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이준배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250725</a:t>
                      </a:r>
                      <a:endParaRPr sz="9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frontend/src/MainPage.tsx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면접 기록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중간 UI(총 면접회수, 평균 점수, 면접 기록) 표시시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상단바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(홈, 면접 시작, 로그아웃, 마이페이지) 클릭시 해당 페이지 이동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서비스의 필요성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하단에 서비스 설명 표시(장점 3가지)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면접 시작하기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중간 면접 시작하기 버튼(클릭시 면접 진행 페이지로 이동)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서비스 로고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왼쪽 위 배타고 아이콘(클릭시 메인화면)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306050"/>
            <a:ext cx="6020827" cy="34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3921564" y="2760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615164" y="13395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319989" y="34330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928364" y="22476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858264" y="13060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Google Shape;65;p14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Main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Main_02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이준배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frontend/src/interview/JobPostingSelection.tsx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참여 기업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이용 가능한 기업 소개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면접 시작하기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면접 세팅 페이지로 이동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3" cy="32384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2150989" y="33370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2703989" y="41081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00" y="1274500"/>
            <a:ext cx="6019077" cy="3253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15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Login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Login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frontend/src/LoginPage.tsx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이메일 입력</a:t>
                      </a:r>
                      <a:endParaRPr b="1"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비밀번호 입력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면접 세팅 페이지로 이동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로그인 버튼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로그인을 진행하며 성공 할 경우 메인 페이지로 이동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아닐 경우 4번 제공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회원 정보 확인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로그인 정보가 틀릴 경우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 경고 문구 제공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소셜 로그인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구글, 카카오톡을 이용한 소셜 로그인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페이지 이동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회원 가입 페이지로 이동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페이지 이동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메인 페이지로 이동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sp>
        <p:nvSpPr>
          <p:cNvPr id="75" name="Google Shape;75;p15"/>
          <p:cNvSpPr/>
          <p:nvPr/>
        </p:nvSpPr>
        <p:spPr>
          <a:xfrm>
            <a:off x="2679764" y="20841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679764" y="23554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4106014" y="18171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106014" y="25146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599989" y="28915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922089" y="32121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032964" y="34791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6"/>
          <p:cNvGraphicFramePr/>
          <p:nvPr/>
        </p:nvGraphicFramePr>
        <p:xfrm>
          <a:off x="488069" y="478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frontend/src/LoginPage.tsx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이메일 입력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이메일 유효성 검사 진행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인증받기 버튼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해당 이메일로 인증 번호 전송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5" y="1288450"/>
            <a:ext cx="6020823" cy="35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2631564" y="18699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073839" y="18699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17"/>
          <p:cNvGraphicFramePr/>
          <p:nvPr/>
        </p:nvGraphicFramePr>
        <p:xfrm>
          <a:off x="488069" y="478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Signup_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valid_email_1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frontend/src/LoginPage.tsx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이메일 유효성 검사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올바른 형식의 이메일 입력 확인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인증 번호 확인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올바른 인증 번호 입력 확인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5" y="1288450"/>
            <a:ext cx="6023450" cy="32793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2647564" y="20542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129889" y="2214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18"/>
          <p:cNvGraphicFramePr/>
          <p:nvPr/>
        </p:nvGraphicFramePr>
        <p:xfrm>
          <a:off x="488069" y="478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Signup_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valid_code_1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frontend/src/SignUpPage.tsx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인증 번호 </a:t>
                      </a:r>
                      <a:r>
                        <a:rPr b="1" lang="ko" sz="900"/>
                        <a:t>유효성 검사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올바른 번호일 경우 패스워드, 이름 작성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5" y="1288451"/>
            <a:ext cx="6020823" cy="32632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2655564" y="22385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19"/>
          <p:cNvGraphicFramePr/>
          <p:nvPr/>
        </p:nvGraphicFramePr>
        <p:xfrm>
          <a:off x="488069" y="478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Signup_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valid_code_2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frontend/src/SignUpPage.tsx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인증 번호 유효성 검사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5" y="1288450"/>
            <a:ext cx="6020823" cy="327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/>
          <p:nvPr/>
        </p:nvSpPr>
        <p:spPr>
          <a:xfrm>
            <a:off x="2647589" y="22768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20"/>
          <p:cNvGraphicFramePr/>
          <p:nvPr/>
        </p:nvGraphicFramePr>
        <p:xfrm>
          <a:off x="488069" y="478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Signup_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finish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frontend/src/SignUpPage.tsx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회원가입 버튼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모든 유효성 검사를 통과할 경우 해당 정보를 가지고 로그인 되어 메인 페이지로 이동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5" y="1288450"/>
            <a:ext cx="6020823" cy="344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/>
          <p:nvPr/>
        </p:nvSpPr>
        <p:spPr>
          <a:xfrm>
            <a:off x="2703689" y="2861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21"/>
          <p:cNvGraphicFramePr/>
          <p:nvPr/>
        </p:nvGraphicFramePr>
        <p:xfrm>
          <a:off x="488069" y="478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Signup_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short_password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frontend/src/SignUpPage.tsx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비밀번호 유효성 검사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8자 이하일 경우 에러 발생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5" y="1314175"/>
            <a:ext cx="6020823" cy="3281226"/>
          </a:xfrm>
          <a:prstGeom prst="rect">
            <a:avLst/>
          </a:prstGeom>
          <a:solidFill>
            <a:srgbClr val="FF644E"/>
          </a:solidFill>
          <a:ln>
            <a:noFill/>
          </a:ln>
        </p:spPr>
      </p:pic>
      <p:sp>
        <p:nvSpPr>
          <p:cNvPr id="125" name="Google Shape;125;p21"/>
          <p:cNvSpPr/>
          <p:nvPr/>
        </p:nvSpPr>
        <p:spPr>
          <a:xfrm>
            <a:off x="2671639" y="2861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22"/>
          <p:cNvGraphicFramePr/>
          <p:nvPr/>
        </p:nvGraphicFramePr>
        <p:xfrm>
          <a:off x="488069" y="478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Signup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Signup_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wrong_password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frontend/src/SignUpPage.tsx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비밀번</a:t>
                      </a:r>
                      <a:r>
                        <a:rPr b="1" lang="ko" sz="900"/>
                        <a:t>호 유효성 검사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8글자 이상이지만 비밀번호 확인과 다를 경우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2713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5" y="1314175"/>
            <a:ext cx="6020823" cy="333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2671639" y="2861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mypage_resume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resume_write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이준배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250725</a:t>
                      </a:r>
                      <a:endParaRPr sz="9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frontend/src/interview/ProfilePage.tsx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사이드바 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이력서 관리, 면접 히스토리, 개인정보 관리(클릭 시 해당 페이지 이동)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이력서 작성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중간 작성 페이지(이름, 학력, 경력, 기술 스택,활동/경험, 자격증, 수상경력) 작성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이력서 저장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오른쪽 상단 작성하기 버튼(클릭 시 이력서 내용 DB에 저장)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3" cy="3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/>
          <p:nvPr/>
        </p:nvSpPr>
        <p:spPr>
          <a:xfrm>
            <a:off x="1330764" y="18458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4378764" y="28364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5674164" y="16934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p24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mypage_resume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resume_write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_2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이준배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frontend/src/interview/ProfilePage.tsx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이력서 작성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활동/경험, 자격증, 수상경력은 필수 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3" cy="3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/>
          <p:nvPr/>
        </p:nvSpPr>
        <p:spPr>
          <a:xfrm>
            <a:off x="5755314" y="16375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25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mypage_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resume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resume_manage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이준배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frontend/src/interview/ProfilePage.tsx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중앙 UI 나의 이력서 표시(이력서 제목, 작성 날짜,작성 진행도, 학력, 기술스택)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이력서 박스별 수정, 복사, 삭제(클릭 시 기능 수행)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오른쪽 위 새 이력서 만들기(클릭시 이력서 작성 페이지 이동)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6" cy="323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/>
          <p:nvPr/>
        </p:nvSpPr>
        <p:spPr>
          <a:xfrm>
            <a:off x="3616764" y="16934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2702364" y="23030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4912164" y="1617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26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mypage_history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mypage_history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이준배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frontend/src/interview/ProfilePage.tsx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중앙 UI(면접 통계 및 면접 히스토리 리스트)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중앙 면접 히스토리 리스트(클릭 시 면접 히스토리 상세 페이지 이동)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오른 쪽 위 새 면접 시작 버튼(클릭 시 면접 페이지 이동)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7" cy="323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/>
          <p:nvPr/>
        </p:nvSpPr>
        <p:spPr>
          <a:xfrm>
            <a:off x="3845364" y="16934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3921564" y="2760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4988364" y="16934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27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mypage_profile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mypage_profile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이준배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frontend/src/interview/ProfilePage.tsx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 </a:t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중앙 UI 개인정보(프로필, 이름, 이메일) 표시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중앙 프로필옆  사진 변경(클릭시 사진 변경 가능)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중앙 정보 저장 버튼(클릭시 상단 입력한 이름과 이메일로 개인 정보 변경)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비밀번호 변경 버튼(클릭시 비밀번호 변경 팝업창 생성)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계정 삭제 버튼(클릭 시 계정 삭제 및 데이터 삭제)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7" cy="3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/>
          <p:nvPr/>
        </p:nvSpPr>
        <p:spPr>
          <a:xfrm>
            <a:off x="5420989" y="18892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3089789" y="23047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2209549" y="3057225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3180939" y="30572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2799214" y="34620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28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Job_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Postiong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Job_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Postiong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frontend/src/interview/JobPostingSelection.tsx</a:t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인터뷰 세팅 단계 표시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완료된 단계는 체크 표시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공고 선택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(네,카,라,쿠,배,당,토)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4" cy="3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1631464" y="16793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1319189" y="26729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29"/>
          <p:cNvGraphicFramePr/>
          <p:nvPr/>
        </p:nvGraphicFramePr>
        <p:xfrm>
          <a:off x="488056" y="464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Job_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Postiong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Job_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Postiong_2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김원우</a:t>
                      </a:r>
                      <a:endParaRPr sz="9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frontend/src/interview/JobPostingSelection.tsx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0" marB="9525" marR="9525" marL="952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공고 선택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면접 희망하는 공고 선택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요구사항 확인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선택된 공고의 주요 </a:t>
                      </a:r>
                      <a:r>
                        <a:rPr lang="ko" sz="900"/>
                        <a:t>요구사항 확인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ko" sz="900"/>
                        <a:t>페이지 이동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/>
                        <a:t>이력서 선택 페이지 이동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0" y="1274500"/>
            <a:ext cx="6020827" cy="3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/>
          <p:nvPr/>
        </p:nvSpPr>
        <p:spPr>
          <a:xfrm>
            <a:off x="1447189" y="15671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1551514" y="33939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5205014" y="41081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30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resume_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selection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resume_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selection_1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frontend/src/interview/ResumeSelection.tsx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인터뷰 세팅 단계 표시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완료된 단계는 체크 표시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이력서 선택</a:t>
                      </a:r>
                      <a:br>
                        <a:rPr lang="ko" sz="900">
                          <a:solidFill>
                            <a:srgbClr val="000000"/>
                          </a:solidFill>
                        </a:rPr>
                      </a:br>
                      <a:r>
                        <a:rPr lang="ko" sz="900"/>
                        <a:t>선택된 이력서의 배경 색 변경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54875"/>
            <a:ext cx="6020824" cy="32316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/>
          <p:nvPr/>
        </p:nvSpPr>
        <p:spPr>
          <a:xfrm>
            <a:off x="2112164" y="14950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1647664" y="24382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31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resume_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selection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resume_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selection_2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frontend/src/interview/ResumeSelection.tsx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이력서 미리보기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이력서 내용 확인 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페이지 이동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공고 선택 페이지로 돌아가기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페이지 이동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면접 모드 선택 페이지 이동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sp>
        <p:nvSpPr>
          <p:cNvPr id="208" name="Google Shape;208;p31"/>
          <p:cNvSpPr/>
          <p:nvPr/>
        </p:nvSpPr>
        <p:spPr>
          <a:xfrm>
            <a:off x="2112164" y="14950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1647664" y="24382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54875"/>
            <a:ext cx="6020824" cy="323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1"/>
          <p:cNvSpPr/>
          <p:nvPr/>
        </p:nvSpPr>
        <p:spPr>
          <a:xfrm>
            <a:off x="1783864" y="29549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1783864" y="39005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5373264" y="39005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p32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interview_mode_selection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interview_mode_selection_1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</a:t>
                      </a: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InterviewModeSelection</a:t>
                      </a:r>
                      <a:r>
                        <a:rPr lang="ko" sz="900">
                          <a:solidFill>
                            <a:srgbClr val="5E5E5E"/>
                          </a:solidFill>
                        </a:rPr>
                        <a:t>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인터뷰 세팅 단계 표시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완료된 단계는 체크 표시</a:t>
                      </a:r>
                      <a:endParaRPr b="1"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면접 방법 선택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희망하는 면접 방식 선택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(개인화, 표준 면접은 추후 업데이트 예정)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선택된 면접 모드 확인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선택 공고, 이력서, 면접 모드에 대한 내용 확인 </a:t>
                      </a:r>
                      <a:endParaRPr sz="900"/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페이지 이동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이력서 </a:t>
                      </a:r>
                      <a:r>
                        <a:rPr lang="ko" sz="900"/>
                        <a:t>페이지로 돌아가기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페이지 이동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AI 설정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 페이지 이동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20827" cy="3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/>
          <p:nvPr/>
        </p:nvSpPr>
        <p:spPr>
          <a:xfrm>
            <a:off x="2200314" y="13829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1948314" y="20801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5176889" y="4014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1988239" y="32046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1988239" y="39102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33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interview_ai_setup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interview_ai_setup_1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</a:t>
                      </a:r>
                      <a:r>
                        <a:rPr lang="ko" sz="900">
                          <a:solidFill>
                            <a:srgbClr val="5E5E5E"/>
                          </a:solidFill>
                        </a:rPr>
                        <a:t>AISetup</a:t>
                      </a:r>
                      <a:r>
                        <a:rPr lang="ko" sz="900">
                          <a:solidFill>
                            <a:srgbClr val="5E5E5E"/>
                          </a:solidFill>
                        </a:rPr>
                        <a:t>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인터뷰 세팅 단계 표시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완료된 단계는 체크 표시</a:t>
                      </a:r>
                      <a:endParaRPr b="1"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참여하는 면접관 표시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3명의 면접관에 대한 정보 제공</a:t>
                      </a:r>
                      <a:endParaRPr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54875"/>
            <a:ext cx="6020827" cy="3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/>
          <p:nvPr/>
        </p:nvSpPr>
        <p:spPr>
          <a:xfrm>
            <a:off x="1824089" y="14596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1572089" y="27740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34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interview_ai_setup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interview_ai_setup_2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frontend/src/interview/AISetup.tsx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AI 지원자 설정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함께 면접을 보는 지원자 난이도 선택</a:t>
                      </a:r>
                      <a:endParaRPr b="1" sz="900"/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설정 요약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이전 설정 내용에 대한 정보 제공</a:t>
                      </a:r>
                      <a:endParaRPr sz="900"/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페이지 이동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이력서 페이지로 돌아가기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페이지 이동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AI 설정 페이지 이동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38" name="Google Shape;2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73300"/>
            <a:ext cx="6020827" cy="32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4"/>
          <p:cNvSpPr/>
          <p:nvPr/>
        </p:nvSpPr>
        <p:spPr>
          <a:xfrm>
            <a:off x="2236914" y="1990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2236914" y="34363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2236914" y="40581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4868289" y="40581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" name="Google Shape;247;p35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interview_environment_check_1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</a:t>
                      </a:r>
                      <a:r>
                        <a:rPr lang="ko" sz="900">
                          <a:solidFill>
                            <a:srgbClr val="5E5E5E"/>
                          </a:solidFill>
                        </a:rPr>
                        <a:t>EnvironmentCheck</a:t>
                      </a:r>
                      <a:r>
                        <a:rPr lang="ko" sz="900">
                          <a:solidFill>
                            <a:srgbClr val="5E5E5E"/>
                          </a:solidFill>
                        </a:rPr>
                        <a:t>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인터뷰 세팅 단계 표시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완료된 단계는 체크 표시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환경 체크 시작 버튼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클릭시 브라우저, 네트워크 연결, 마이크, 카메라 테스트 진행</a:t>
                      </a:r>
                      <a:endParaRPr sz="900"/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페이지 이동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이력서 페이지로 돌아가기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페이지 이동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AI 설정 페이지 이동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66825"/>
            <a:ext cx="6020827" cy="32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5"/>
          <p:cNvSpPr/>
          <p:nvPr/>
        </p:nvSpPr>
        <p:spPr>
          <a:xfrm>
            <a:off x="2260614" y="14504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3182139" y="21280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36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interview_environment_check_2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frontend/src/interview/EnvironmentCheck.tsx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환경 체크 유무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완료 되었을 경우 체크 표시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오류가 날 경우 새로고침 후 재시도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56" name="Google Shape;2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20823" cy="340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/>
          <p:nvPr/>
        </p:nvSpPr>
        <p:spPr>
          <a:xfrm>
            <a:off x="1910689" y="23637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Google Shape;262;p37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interview_environment_check_3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frontend/src/interview/EnvironmentCheck.tsx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환경 체크 유무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완료 되었을 경우 체크 표시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카메라 상태 확인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실시간 카메라 작동 상태 확인</a:t>
                      </a:r>
                      <a:endParaRPr sz="900"/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63" name="Google Shape;2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20827" cy="326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7"/>
          <p:cNvSpPr/>
          <p:nvPr/>
        </p:nvSpPr>
        <p:spPr>
          <a:xfrm>
            <a:off x="2308864" y="22241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37"/>
          <p:cNvSpPr/>
          <p:nvPr/>
        </p:nvSpPr>
        <p:spPr>
          <a:xfrm>
            <a:off x="2308864" y="30976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Google Shape;270;p38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interview_environment_check_4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frontend/src/interview/EnvironmentCheck.tsx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면접 준비 상태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진행했던 면접 준비 내용 확인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페이지 이동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AI 설정 </a:t>
                      </a:r>
                      <a:r>
                        <a:rPr lang="ko" sz="900"/>
                        <a:t>페이지로 돌아가기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페이지 이동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면접 페이지로 이동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271" name="Google Shape;27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20824" cy="323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/>
          <p:nvPr/>
        </p:nvSpPr>
        <p:spPr>
          <a:xfrm>
            <a:off x="2356914" y="27449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38"/>
          <p:cNvSpPr/>
          <p:nvPr/>
        </p:nvSpPr>
        <p:spPr>
          <a:xfrm>
            <a:off x="2356914" y="4014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38"/>
          <p:cNvSpPr/>
          <p:nvPr/>
        </p:nvSpPr>
        <p:spPr>
          <a:xfrm>
            <a:off x="4776639" y="4014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" name="Google Shape;279;p39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active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active_1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frontend/src/interviewActive.tsx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면접관 화면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파란색 테두리로 면접관 질문 여부 확인 가능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사용자 화면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사용자의 실시간 화면 확인 가능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AI 지원자 답변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붉은 테두리로 AI 지원자 답변 상황 확인 가능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상태 컨테이너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면접 질문 확인 및 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마이크 on 버튼 제공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sp>
        <p:nvSpPr>
          <p:cNvPr id="280" name="Google Shape;280;p39"/>
          <p:cNvSpPr/>
          <p:nvPr/>
        </p:nvSpPr>
        <p:spPr>
          <a:xfrm>
            <a:off x="4704514" y="30207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39"/>
          <p:cNvSpPr/>
          <p:nvPr/>
        </p:nvSpPr>
        <p:spPr>
          <a:xfrm>
            <a:off x="663164" y="1236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663164" y="29887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p39"/>
          <p:cNvSpPr/>
          <p:nvPr/>
        </p:nvSpPr>
        <p:spPr>
          <a:xfrm>
            <a:off x="2664239" y="29887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4" name="Google Shape;2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35476" cy="331557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9"/>
          <p:cNvSpPr/>
          <p:nvPr/>
        </p:nvSpPr>
        <p:spPr>
          <a:xfrm>
            <a:off x="663164" y="1236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39"/>
          <p:cNvSpPr/>
          <p:nvPr/>
        </p:nvSpPr>
        <p:spPr>
          <a:xfrm>
            <a:off x="663164" y="31571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39"/>
          <p:cNvSpPr/>
          <p:nvPr/>
        </p:nvSpPr>
        <p:spPr>
          <a:xfrm>
            <a:off x="4741289" y="31571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2702226" y="28769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" name="Google Shape;293;p40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active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active_2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frontend/src/interviewActive.tsx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면접관 화면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3명의 면접관 화면 확인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사용자 화면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사용자의 실시간 화면 확인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붉은 테두리로 답변 상황 확인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TEXT AREA로 STT 변환 확인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AI 지원자 답변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붉은 테두리로 AI 지원자 답변 상황 확인 가능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상태 컨테이너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면접 질문 확인 및 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마이크 on 버튼 제공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sp>
        <p:nvSpPr>
          <p:cNvPr id="294" name="Google Shape;294;p40"/>
          <p:cNvSpPr/>
          <p:nvPr/>
        </p:nvSpPr>
        <p:spPr>
          <a:xfrm>
            <a:off x="4704514" y="30207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40"/>
          <p:cNvSpPr/>
          <p:nvPr/>
        </p:nvSpPr>
        <p:spPr>
          <a:xfrm>
            <a:off x="663164" y="1236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40"/>
          <p:cNvSpPr/>
          <p:nvPr/>
        </p:nvSpPr>
        <p:spPr>
          <a:xfrm>
            <a:off x="663164" y="29887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7" name="Google Shape;297;p40"/>
          <p:cNvSpPr/>
          <p:nvPr/>
        </p:nvSpPr>
        <p:spPr>
          <a:xfrm>
            <a:off x="2664239" y="29887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8" name="Google Shape;2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20823" cy="35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/>
          <p:nvPr/>
        </p:nvSpPr>
        <p:spPr>
          <a:xfrm>
            <a:off x="663164" y="1236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40"/>
          <p:cNvSpPr/>
          <p:nvPr/>
        </p:nvSpPr>
        <p:spPr>
          <a:xfrm>
            <a:off x="663164" y="31513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4704514" y="31892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40"/>
          <p:cNvSpPr/>
          <p:nvPr/>
        </p:nvSpPr>
        <p:spPr>
          <a:xfrm>
            <a:off x="2683851" y="30207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" name="Google Shape;307;p41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active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active_3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frontend/src/interviewActive.tsx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면접관 화면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3명의 면접관 화면 확인 가능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사용자 화면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사용자의 실시간 화면 확인 가능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및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AI 지원자 또는 면접관이 말하고 있을 때에는 대기중 표시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AI 지원자 답변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붉은 테두리로 AI 지원자 답변 상황 확인 가능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상태 컨테이너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면접 질문 확인 및 </a:t>
                      </a:r>
                      <a:endParaRPr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마이크 on 버튼 제공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308" name="Google Shape;3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20823" cy="356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1"/>
          <p:cNvSpPr/>
          <p:nvPr/>
        </p:nvSpPr>
        <p:spPr>
          <a:xfrm>
            <a:off x="4704514" y="30207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41"/>
          <p:cNvSpPr/>
          <p:nvPr/>
        </p:nvSpPr>
        <p:spPr>
          <a:xfrm>
            <a:off x="663164" y="12366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41"/>
          <p:cNvSpPr/>
          <p:nvPr/>
        </p:nvSpPr>
        <p:spPr>
          <a:xfrm>
            <a:off x="663164" y="29887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41"/>
          <p:cNvSpPr/>
          <p:nvPr/>
        </p:nvSpPr>
        <p:spPr>
          <a:xfrm>
            <a:off x="2664239" y="29887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Google Shape;317;p42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result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result_my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250725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frontend/src/interviewResults.tsx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사용자 면접 영상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면접 영상 재생 및 저장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사용자 질문 답변 피드백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답변에 대한 피드백 제공 및 메모 기능 제공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사용자 최종 피드백 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모든 질문에 대한 답변을 고려하여 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최종 피드백 제공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318" name="Google Shape;3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80600"/>
            <a:ext cx="6020823" cy="328985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2"/>
          <p:cNvSpPr/>
          <p:nvPr/>
        </p:nvSpPr>
        <p:spPr>
          <a:xfrm>
            <a:off x="1792814" y="179750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42"/>
          <p:cNvSpPr/>
          <p:nvPr/>
        </p:nvSpPr>
        <p:spPr>
          <a:xfrm>
            <a:off x="5398264" y="17489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753114" y="25717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Google Shape;326;p43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result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result_AI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250727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frontend/src/interviewResults.tsx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AI 지원자 </a:t>
                      </a: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최종 피드백 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모든 질문에 대한 답변을 고려하여 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최종 피드백 제공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AI 지원자 </a:t>
                      </a:r>
                      <a:r>
                        <a:rPr b="1" lang="ko" sz="900"/>
                        <a:t>질문 답변 피드백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답변에 대한 피드백 제공 및 메모 기능 제공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327" name="Google Shape;32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154875"/>
            <a:ext cx="5999698" cy="328985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3"/>
          <p:cNvSpPr/>
          <p:nvPr/>
        </p:nvSpPr>
        <p:spPr>
          <a:xfrm>
            <a:off x="5398089" y="16421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43"/>
          <p:cNvSpPr/>
          <p:nvPr/>
        </p:nvSpPr>
        <p:spPr>
          <a:xfrm>
            <a:off x="1728914" y="167438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44"/>
          <p:cNvGraphicFramePr/>
          <p:nvPr/>
        </p:nvGraphicFramePr>
        <p:xfrm>
          <a:off x="663181" y="34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{C5A8E9A6-4640-41F6-B256-E020F65A51D1}</a:tableStyleId>
              </a:tblPr>
              <a:tblGrid>
                <a:gridCol w="745975"/>
                <a:gridCol w="753550"/>
                <a:gridCol w="753550"/>
                <a:gridCol w="753550"/>
                <a:gridCol w="753550"/>
                <a:gridCol w="753550"/>
                <a:gridCol w="753550"/>
                <a:gridCol w="753550"/>
                <a:gridCol w="488475"/>
                <a:gridCol w="16585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Page Title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result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ID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interview_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result_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term_feedback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Author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김원우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Date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250727</a:t>
                      </a:r>
                      <a:endParaRPr sz="500"/>
                    </a:p>
                  </a:txBody>
                  <a:tcPr marT="9525" marB="9525" marR="14300" marL="14300" anchor="ctr"/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Descriptions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rowSpan="2" hMerge="1"/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screen path</a:t>
                      </a:r>
                      <a:endParaRPr sz="500"/>
                    </a:p>
                  </a:txBody>
                  <a:tcPr marT="9525" marB="9525" marR="14300" marL="14300" anchor="ctr">
                    <a:solidFill>
                      <a:srgbClr val="D0D0D0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>
                          <a:solidFill>
                            <a:srgbClr val="5E5E5E"/>
                          </a:solidFill>
                        </a:rPr>
                        <a:t>frontend/src/interviewResults.tsx</a:t>
                      </a:r>
                      <a:endParaRPr sz="900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hMerge="1"/>
                <a:tc hMerge="1"/>
                <a:tc hMerge="1"/>
                <a:tc hMerge="1"/>
                <a:tc hMerge="1"/>
                <a:tc hMerge="1"/>
                <a:tc gridSpan="2" vMerge="1"/>
                <a:tc hMerge="1" vMerge="1"/>
              </a:tr>
              <a:tr h="404800">
                <a:tc gridSpan="8" row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 rowSpan="8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1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사용자 단기 </a:t>
                      </a: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피드백 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빠른 시일내에 개선할 수 있는 피드백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2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/>
                        <a:t>사용자 장기 피드백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시간을 두고 개선해야 할 피드백</a:t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3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4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5</a:t>
                      </a:r>
                      <a:endParaRPr sz="500"/>
                    </a:p>
                  </a:txBody>
                  <a:tcPr marT="9525" marB="9525" marR="14300" marL="1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9525" marB="9525" marR="14300" marL="1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6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7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  <a:tr h="4048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ko" sz="900" u="none" cap="none" strike="noStrike">
                          <a:solidFill>
                            <a:srgbClr val="5E5E5E"/>
                          </a:solidFill>
                        </a:rPr>
                        <a:t>8</a:t>
                      </a:r>
                      <a:endParaRPr sz="500"/>
                    </a:p>
                  </a:txBody>
                  <a:tcPr marT="9525" marB="9525" marR="14300" marL="1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E5E5E"/>
                        </a:solidFill>
                      </a:endParaRPr>
                    </a:p>
                  </a:txBody>
                  <a:tcPr marT="9525" marB="9525" marR="14300" marL="14300" anchor="ctr"/>
                </a:tc>
              </a:tr>
            </a:tbl>
          </a:graphicData>
        </a:graphic>
      </p:graphicFrame>
      <p:pic>
        <p:nvPicPr>
          <p:cNvPr id="335" name="Google Shape;3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317750"/>
            <a:ext cx="6020823" cy="331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/>
          <p:nvPr/>
        </p:nvSpPr>
        <p:spPr>
          <a:xfrm>
            <a:off x="1760964" y="1748932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p44"/>
          <p:cNvSpPr/>
          <p:nvPr/>
        </p:nvSpPr>
        <p:spPr>
          <a:xfrm>
            <a:off x="1760964" y="2571757"/>
            <a:ext cx="252000" cy="267000"/>
          </a:xfrm>
          <a:prstGeom prst="rect">
            <a:avLst/>
          </a:prstGeom>
          <a:solidFill>
            <a:srgbClr val="FF644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