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8229600" cx="14630400"/>
  <p:notesSz cx="8229600" cy="14630400"/>
  <p:embeddedFontLst>
    <p:embeddedFont>
      <p:font typeface="Inter"/>
      <p:regular r:id="rId18"/>
      <p:bold r:id="rId19"/>
      <p:italic r:id="rId20"/>
      <p:boldItalic r:id="rId21"/>
    </p:embeddedFont>
    <p:embeddedFont>
      <p:font typeface="Petron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Petrona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Petrona-italic.fntdata"/><Relationship Id="rId23" Type="http://schemas.openxmlformats.org/officeDocument/2006/relationships/font" Target="fonts/Petron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Petrona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2b545b64b_0_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72b545b64b_0_0:notes"/>
          <p:cNvSpPr/>
          <p:nvPr>
            <p:ph idx="2" type="sldImg"/>
          </p:nvPr>
        </p:nvSpPr>
        <p:spPr>
          <a:xfrm>
            <a:off x="1371870" y="1097280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2b545b64b_0_2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72b545b64b_0_2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72b545b64b_0_2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2b545b64b_0_107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72b545b64b_0_107:notes"/>
          <p:cNvSpPr/>
          <p:nvPr>
            <p:ph idx="2" type="sldImg"/>
          </p:nvPr>
        </p:nvSpPr>
        <p:spPr>
          <a:xfrm>
            <a:off x="1371870" y="1097280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ctrTitle"/>
          </p:nvPr>
        </p:nvSpPr>
        <p:spPr>
          <a:xfrm>
            <a:off x="1828800" y="1346836"/>
            <a:ext cx="10972800" cy="28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4850" lIns="109700" spcFirstLastPara="1" rIns="109700" wrap="square" tIns="548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Malgun Gothic"/>
              <a:buChar char="●"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1828800" y="4322446"/>
            <a:ext cx="10972800" cy="19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109700" spcFirstLastPara="1" rIns="109700" wrap="square" tIns="54850">
            <a:norm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00" spcFirstLastPara="1" rIns="109700" wrap="square" tIns="54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00" spcFirstLastPara="1" rIns="109700" wrap="square" tIns="54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00" spcFirstLastPara="1" rIns="109700" wrap="square" tIns="54850">
            <a:noAutofit/>
          </a:bodyPr>
          <a:lstStyle>
            <a:lvl1pPr indent="0" lvl="0" marL="0" algn="r">
              <a:spcBef>
                <a:spcPts val="0"/>
              </a:spcBef>
              <a:buNone/>
              <a:defRPr sz="1700"/>
            </a:lvl1pPr>
            <a:lvl2pPr indent="0" lvl="1" marL="0" algn="r">
              <a:spcBef>
                <a:spcPts val="0"/>
              </a:spcBef>
              <a:buNone/>
              <a:defRPr sz="1700"/>
            </a:lvl2pPr>
            <a:lvl3pPr indent="0" lvl="2" marL="0" algn="r">
              <a:spcBef>
                <a:spcPts val="0"/>
              </a:spcBef>
              <a:buNone/>
              <a:defRPr sz="1700"/>
            </a:lvl3pPr>
            <a:lvl4pPr indent="0" lvl="3" marL="0" algn="r">
              <a:spcBef>
                <a:spcPts val="0"/>
              </a:spcBef>
              <a:buNone/>
              <a:defRPr sz="1700"/>
            </a:lvl4pPr>
            <a:lvl5pPr indent="0" lvl="4" marL="0" algn="r">
              <a:spcBef>
                <a:spcPts val="0"/>
              </a:spcBef>
              <a:buNone/>
              <a:defRPr sz="1700"/>
            </a:lvl5pPr>
            <a:lvl6pPr indent="0" lvl="5" marL="0" algn="r">
              <a:spcBef>
                <a:spcPts val="0"/>
              </a:spcBef>
              <a:buNone/>
              <a:defRPr sz="1700"/>
            </a:lvl6pPr>
            <a:lvl7pPr indent="0" lvl="6" marL="0" algn="r">
              <a:spcBef>
                <a:spcPts val="0"/>
              </a:spcBef>
              <a:buNone/>
              <a:defRPr sz="1700"/>
            </a:lvl7pPr>
            <a:lvl8pPr indent="0" lvl="7" marL="0" algn="r">
              <a:spcBef>
                <a:spcPts val="0"/>
              </a:spcBef>
              <a:buNone/>
              <a:defRPr sz="1700"/>
            </a:lvl8pPr>
            <a:lvl9pPr indent="0" lvl="8" marL="0" algn="r">
              <a:spcBef>
                <a:spcPts val="0"/>
              </a:spcBef>
              <a:buNone/>
              <a:defRPr sz="17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9" Type="http://schemas.openxmlformats.org/officeDocument/2006/relationships/image" Target="../media/image12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image" Target="../media/image20.png"/><Relationship Id="rId9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856F"/>
            </a:gs>
            <a:gs pos="18000">
              <a:srgbClr val="FFC95D"/>
            </a:gs>
            <a:gs pos="35000">
              <a:srgbClr val="FEFE6E"/>
            </a:gs>
            <a:gs pos="52000">
              <a:srgbClr val="B4F999"/>
            </a:gs>
            <a:gs pos="67000">
              <a:srgbClr val="72D6FA"/>
            </a:gs>
            <a:gs pos="83000">
              <a:srgbClr val="6D7BFF"/>
            </a:gs>
            <a:gs pos="100000">
              <a:srgbClr val="FB71B6"/>
            </a:gs>
          </a:gsLst>
          <a:lin ang="2700006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873193" y="525240"/>
            <a:ext cx="12884024" cy="76031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14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8585"/>
                </a:solidFill>
                <a:latin typeface="Malgun Gothic"/>
              </a:rPr>
              <a:t>5조 Beta Go 팀 발표시작할게용~</a:t>
            </a:r>
          </a:p>
        </p:txBody>
      </p:sp>
      <p:pic>
        <p:nvPicPr>
          <p:cNvPr descr="D-171] 공부 끝 - 오르비" id="62" name="Google Shape;62;p14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5290786" y="4298180"/>
            <a:ext cx="4048830" cy="393142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1477133" y="4438900"/>
            <a:ext cx="3501000" cy="2316600"/>
          </a:xfrm>
          <a:prstGeom prst="wedgeRoundRectCallout">
            <a:avLst>
              <a:gd fmla="val 60852" name="adj1"/>
              <a:gd fmla="val 23919" name="adj2"/>
              <a:gd fmla="val 16667" name="adj3"/>
            </a:avLst>
          </a:prstGeom>
          <a:solidFill>
            <a:srgbClr val="FFDD71"/>
          </a:solidFill>
          <a:ln>
            <a:noFill/>
          </a:ln>
        </p:spPr>
        <p:txBody>
          <a:bodyPr anchorCtr="0" anchor="ctr" bIns="54850" lIns="109700" spcFirstLastPara="1" rIns="10970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시작 할게용~</a:t>
            </a:r>
            <a:endParaRPr b="0" i="0" sz="4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6280190" y="2656046"/>
            <a:ext cx="7556421" cy="1488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LLM 다대다 모의면접 시스템: 주간 스탠드업</a:t>
            </a:r>
            <a:endParaRPr b="0" i="0" sz="4650" u="none" cap="none" strike="noStrike"/>
          </a:p>
        </p:txBody>
      </p:sp>
      <p:sp>
        <p:nvSpPr>
          <p:cNvPr id="70" name="Google Shape;70;p15"/>
          <p:cNvSpPr/>
          <p:nvPr/>
        </p:nvSpPr>
        <p:spPr>
          <a:xfrm>
            <a:off x="6280190" y="4484727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지난 주 우리 팀은 LLM 기반 다대다 모의면접 시스템 개발에서 눈에 띄는 성과를 이루었습니다. 오늘의 발표를 통해 주요 성과와 앞으로의 계획을 공유드리겠습니다.</a:t>
            </a:r>
            <a:endParaRPr b="0" i="0" sz="1750" u="none" cap="none" strike="noStrike"/>
          </a:p>
        </p:txBody>
      </p:sp>
      <p:sp>
        <p:nvSpPr>
          <p:cNvPr id="71" name="Google Shape;71;p15"/>
          <p:cNvSpPr txBox="1"/>
          <p:nvPr/>
        </p:nvSpPr>
        <p:spPr>
          <a:xfrm>
            <a:off x="11211325" y="6799200"/>
            <a:ext cx="1871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1"/>
              </a:highlight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2468600" y="7720800"/>
            <a:ext cx="2161800" cy="508800"/>
          </a:xfrm>
          <a:prstGeom prst="rect">
            <a:avLst/>
          </a:prstGeom>
          <a:solidFill>
            <a:srgbClr val="E9F0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-171] 공부 끝 - 오르비" id="73" name="Google Shape;73;p15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368401" y="2476704"/>
            <a:ext cx="3374025" cy="3276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7647" y="2476707"/>
            <a:ext cx="2206042" cy="220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3281399" y="2427799"/>
            <a:ext cx="2194904" cy="337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793790" y="2198727"/>
            <a:ext cx="7224117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lang="en-US" sz="4650">
                <a:latin typeface="Petrona"/>
                <a:ea typeface="Petrona"/>
                <a:cs typeface="Petrona"/>
                <a:sym typeface="Petrona"/>
              </a:rPr>
              <a:t>저</a:t>
            </a: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번 주 핵심 성과</a:t>
            </a:r>
            <a:endParaRPr b="0" i="0" sz="4650" u="none" cap="none" strike="noStrike"/>
          </a:p>
        </p:txBody>
      </p:sp>
      <p:sp>
        <p:nvSpPr>
          <p:cNvPr id="82" name="Google Shape;82;p16"/>
          <p:cNvSpPr/>
          <p:nvPr/>
        </p:nvSpPr>
        <p:spPr>
          <a:xfrm>
            <a:off x="793790" y="3509962"/>
            <a:ext cx="3048000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850"/>
              <a:buFont typeface="Petrona"/>
              <a:buNone/>
            </a:pPr>
            <a:r>
              <a:rPr b="1" i="0" lang="en-US" sz="58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18개</a:t>
            </a:r>
            <a:endParaRPr b="0" i="0" sz="5850" u="none" cap="none" strike="noStrike"/>
          </a:p>
        </p:txBody>
      </p:sp>
      <p:sp>
        <p:nvSpPr>
          <p:cNvPr id="83" name="Google Shape;83;p16"/>
          <p:cNvSpPr/>
          <p:nvPr/>
        </p:nvSpPr>
        <p:spPr>
          <a:xfrm>
            <a:off x="829270" y="4541758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완료 기능</a:t>
            </a:r>
            <a:endParaRPr b="0" i="0" sz="2300" u="none" cap="none" strike="noStrike"/>
          </a:p>
        </p:txBody>
      </p:sp>
      <p:sp>
        <p:nvSpPr>
          <p:cNvPr id="84" name="Google Shape;84;p16"/>
          <p:cNvSpPr/>
          <p:nvPr/>
        </p:nvSpPr>
        <p:spPr>
          <a:xfrm>
            <a:off x="793790" y="5049917"/>
            <a:ext cx="304800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주요 기능 및 시스템 구현 완료</a:t>
            </a:r>
            <a:endParaRPr b="0" i="0" sz="1750" u="none" cap="none" strike="noStrike"/>
          </a:p>
        </p:txBody>
      </p:sp>
      <p:sp>
        <p:nvSpPr>
          <p:cNvPr id="85" name="Google Shape;85;p16"/>
          <p:cNvSpPr/>
          <p:nvPr/>
        </p:nvSpPr>
        <p:spPr>
          <a:xfrm>
            <a:off x="4125278" y="3509962"/>
            <a:ext cx="3048119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850"/>
              <a:buFont typeface="Petrona"/>
              <a:buNone/>
            </a:pPr>
            <a:r>
              <a:rPr b="1" i="0" lang="en-US" sz="58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6개</a:t>
            </a:r>
            <a:endParaRPr b="0" i="0" sz="5850" u="none" cap="none" strike="noStrike"/>
          </a:p>
        </p:txBody>
      </p:sp>
      <p:sp>
        <p:nvSpPr>
          <p:cNvPr id="86" name="Google Shape;86;p16"/>
          <p:cNvSpPr/>
          <p:nvPr/>
        </p:nvSpPr>
        <p:spPr>
          <a:xfrm>
            <a:off x="4160758" y="4541758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진행 중</a:t>
            </a:r>
            <a:endParaRPr b="0" i="0" sz="2300" u="none" cap="none" strike="noStrike"/>
          </a:p>
        </p:txBody>
      </p:sp>
      <p:sp>
        <p:nvSpPr>
          <p:cNvPr id="87" name="Google Shape;87;p16"/>
          <p:cNvSpPr/>
          <p:nvPr/>
        </p:nvSpPr>
        <p:spPr>
          <a:xfrm>
            <a:off x="4125278" y="5049917"/>
            <a:ext cx="304811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현재 개발 중인 기능</a:t>
            </a:r>
            <a:endParaRPr b="0" i="0" sz="1750" u="none" cap="none" strike="noStrike"/>
          </a:p>
        </p:txBody>
      </p:sp>
      <p:sp>
        <p:nvSpPr>
          <p:cNvPr id="88" name="Google Shape;88;p16"/>
          <p:cNvSpPr/>
          <p:nvPr/>
        </p:nvSpPr>
        <p:spPr>
          <a:xfrm>
            <a:off x="7456884" y="3509962"/>
            <a:ext cx="3048119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850"/>
              <a:buFont typeface="Petrona"/>
              <a:buNone/>
            </a:pPr>
            <a:r>
              <a:rPr b="1" i="0" lang="en-US" sz="58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8개</a:t>
            </a:r>
            <a:endParaRPr b="0" i="0" sz="5850" u="none" cap="none" strike="noStrike"/>
          </a:p>
        </p:txBody>
      </p:sp>
      <p:sp>
        <p:nvSpPr>
          <p:cNvPr id="89" name="Google Shape;89;p16"/>
          <p:cNvSpPr/>
          <p:nvPr/>
        </p:nvSpPr>
        <p:spPr>
          <a:xfrm>
            <a:off x="7492365" y="4541758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해결 이슈</a:t>
            </a:r>
            <a:endParaRPr b="0" i="0" sz="2300" u="none" cap="none" strike="noStrike"/>
          </a:p>
        </p:txBody>
      </p:sp>
      <p:sp>
        <p:nvSpPr>
          <p:cNvPr id="90" name="Google Shape;90;p16"/>
          <p:cNvSpPr/>
          <p:nvPr/>
        </p:nvSpPr>
        <p:spPr>
          <a:xfrm>
            <a:off x="7456884" y="5049917"/>
            <a:ext cx="304811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성공적으로 해결된 기술적 문제</a:t>
            </a:r>
            <a:endParaRPr b="0" i="0" sz="1750" u="none" cap="none" strike="noStrike"/>
          </a:p>
        </p:txBody>
      </p:sp>
      <p:sp>
        <p:nvSpPr>
          <p:cNvPr id="91" name="Google Shape;91;p16"/>
          <p:cNvSpPr/>
          <p:nvPr/>
        </p:nvSpPr>
        <p:spPr>
          <a:xfrm>
            <a:off x="10788491" y="3509962"/>
            <a:ext cx="3048119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850"/>
              <a:buFont typeface="Petrona"/>
              <a:buNone/>
            </a:pPr>
            <a:r>
              <a:rPr b="1" i="0" lang="en-US" sz="58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92점</a:t>
            </a:r>
            <a:endParaRPr b="0" i="0" sz="5850" u="none" cap="none" strike="noStrike"/>
          </a:p>
        </p:txBody>
      </p:sp>
      <p:sp>
        <p:nvSpPr>
          <p:cNvPr id="92" name="Google Shape;92;p16"/>
          <p:cNvSpPr/>
          <p:nvPr/>
        </p:nvSpPr>
        <p:spPr>
          <a:xfrm>
            <a:off x="10823972" y="4541758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최고 성능</a:t>
            </a:r>
            <a:endParaRPr b="0" i="0" sz="2300" u="none" cap="none" strike="noStrike"/>
          </a:p>
        </p:txBody>
      </p:sp>
      <p:sp>
        <p:nvSpPr>
          <p:cNvPr id="93" name="Google Shape;93;p16"/>
          <p:cNvSpPr/>
          <p:nvPr/>
        </p:nvSpPr>
        <p:spPr>
          <a:xfrm>
            <a:off x="10788491" y="5049917"/>
            <a:ext cx="304811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7레벨 모델의 정확도 점수</a:t>
            </a:r>
            <a:endParaRPr b="0" i="0" sz="1750" u="none" cap="none" strike="noStrike"/>
          </a:p>
        </p:txBody>
      </p:sp>
      <p:sp>
        <p:nvSpPr>
          <p:cNvPr id="94" name="Google Shape;94;p16"/>
          <p:cNvSpPr/>
          <p:nvPr/>
        </p:nvSpPr>
        <p:spPr>
          <a:xfrm>
            <a:off x="793790" y="566797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95" name="Google Shape;95;p16"/>
          <p:cNvSpPr/>
          <p:nvPr/>
        </p:nvSpPr>
        <p:spPr>
          <a:xfrm>
            <a:off x="12468600" y="7720800"/>
            <a:ext cx="2161800" cy="508800"/>
          </a:xfrm>
          <a:prstGeom prst="rect">
            <a:avLst/>
          </a:prstGeom>
          <a:solidFill>
            <a:srgbClr val="E9F0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-171] 공부 끝 - 오르비" id="96" name="Google Shape;96;p1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-3" y="5530375"/>
            <a:ext cx="2738925" cy="265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51" y="5530377"/>
            <a:ext cx="1790793" cy="1790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2364673" y="5490675"/>
            <a:ext cx="1781752" cy="27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793790" y="1368623"/>
            <a:ext cx="9408914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프론트엔드 개발</a:t>
            </a:r>
            <a:endParaRPr b="0" i="0" sz="4650" u="none" cap="none" strike="noStrike"/>
          </a:p>
        </p:txBody>
      </p:sp>
      <p:sp>
        <p:nvSpPr>
          <p:cNvPr id="105" name="Google Shape;105;p17"/>
          <p:cNvSpPr/>
          <p:nvPr/>
        </p:nvSpPr>
        <p:spPr>
          <a:xfrm>
            <a:off x="793790" y="2566511"/>
            <a:ext cx="4196358" cy="3676293"/>
          </a:xfrm>
          <a:prstGeom prst="roundRect">
            <a:avLst>
              <a:gd fmla="val 2591" name="adj"/>
            </a:avLst>
          </a:prstGeom>
          <a:solidFill>
            <a:srgbClr val="FFFFFF">
              <a:alpha val="74901"/>
            </a:srgbClr>
          </a:solidFill>
          <a:ln cap="flat" cmpd="sng" w="3047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824270" y="2596991"/>
            <a:ext cx="4135398" cy="680442"/>
          </a:xfrm>
          <a:prstGeom prst="roundRect">
            <a:avLst>
              <a:gd fmla="val 8626" name="adj"/>
            </a:avLst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1888" y="272069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1051084" y="3504248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회원 시스템</a:t>
            </a:r>
            <a:endParaRPr b="0" i="0" sz="2300" u="none" cap="none" strike="noStrike"/>
          </a:p>
        </p:txBody>
      </p:sp>
      <p:sp>
        <p:nvSpPr>
          <p:cNvPr id="109" name="Google Shape;109;p17"/>
          <p:cNvSpPr/>
          <p:nvPr/>
        </p:nvSpPr>
        <p:spPr>
          <a:xfrm>
            <a:off x="1051084" y="4012406"/>
            <a:ext cx="368177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Supabase 기반 인증 시스템 완전 구현</a:t>
            </a:r>
            <a:endParaRPr b="0" i="0" sz="1750" u="none" cap="none" strike="noStrike"/>
          </a:p>
        </p:txBody>
      </p:sp>
      <p:sp>
        <p:nvSpPr>
          <p:cNvPr id="110" name="Google Shape;110;p17"/>
          <p:cNvSpPr/>
          <p:nvPr/>
        </p:nvSpPr>
        <p:spPr>
          <a:xfrm>
            <a:off x="1051084" y="4817507"/>
            <a:ext cx="36817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JWT 토큰 인증 및 유효성 검사</a:t>
            </a:r>
            <a:endParaRPr b="0" i="0" sz="1750" u="none" cap="none" strike="noStrike"/>
          </a:p>
        </p:txBody>
      </p:sp>
      <p:sp>
        <p:nvSpPr>
          <p:cNvPr id="111" name="Google Shape;111;p17"/>
          <p:cNvSpPr/>
          <p:nvPr/>
        </p:nvSpPr>
        <p:spPr>
          <a:xfrm>
            <a:off x="1051084" y="5259705"/>
            <a:ext cx="36817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비회원 접근 제한 기능 개발</a:t>
            </a:r>
            <a:endParaRPr b="0" i="0" sz="1750" u="none" cap="none" strike="noStrike"/>
          </a:p>
        </p:txBody>
      </p:sp>
      <p:sp>
        <p:nvSpPr>
          <p:cNvPr id="112" name="Google Shape;112;p17"/>
          <p:cNvSpPr/>
          <p:nvPr/>
        </p:nvSpPr>
        <p:spPr>
          <a:xfrm>
            <a:off x="5216962" y="2566511"/>
            <a:ext cx="4196358" cy="3676293"/>
          </a:xfrm>
          <a:prstGeom prst="roundRect">
            <a:avLst>
              <a:gd fmla="val 2591" name="adj"/>
            </a:avLst>
          </a:prstGeom>
          <a:solidFill>
            <a:srgbClr val="FFFFFF">
              <a:alpha val="74901"/>
            </a:srgbClr>
          </a:solidFill>
          <a:ln cap="flat" cmpd="sng" w="3047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5247442" y="2596991"/>
            <a:ext cx="4135398" cy="680442"/>
          </a:xfrm>
          <a:prstGeom prst="roundRect">
            <a:avLst>
              <a:gd fmla="val 8626" name="adj"/>
            </a:avLst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5060" y="272069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/>
          <p:nvPr/>
        </p:nvSpPr>
        <p:spPr>
          <a:xfrm>
            <a:off x="5474256" y="3504248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면접 시스템 UX</a:t>
            </a:r>
            <a:endParaRPr b="0" i="0" sz="2300" u="none" cap="none" strike="noStrike"/>
          </a:p>
        </p:txBody>
      </p:sp>
      <p:sp>
        <p:nvSpPr>
          <p:cNvPr id="116" name="Google Shape;116;p17"/>
          <p:cNvSpPr/>
          <p:nvPr/>
        </p:nvSpPr>
        <p:spPr>
          <a:xfrm>
            <a:off x="5474256" y="4012406"/>
            <a:ext cx="36817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질문 팝업 방식으로 UX 개선</a:t>
            </a:r>
            <a:endParaRPr b="0" i="0" sz="1750" u="none" cap="none" strike="noStrike"/>
          </a:p>
        </p:txBody>
      </p:sp>
      <p:sp>
        <p:nvSpPr>
          <p:cNvPr id="117" name="Google Shape;117;p17"/>
          <p:cNvSpPr/>
          <p:nvPr/>
        </p:nvSpPr>
        <p:spPr>
          <a:xfrm>
            <a:off x="5474256" y="4454604"/>
            <a:ext cx="36817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영상 좌우 반전 처리로 사용성 향상</a:t>
            </a:r>
            <a:endParaRPr b="0" i="0" sz="1750" u="none" cap="none" strike="noStrike"/>
          </a:p>
        </p:txBody>
      </p:sp>
      <p:sp>
        <p:nvSpPr>
          <p:cNvPr id="118" name="Google Shape;118;p17"/>
          <p:cNvSpPr/>
          <p:nvPr/>
        </p:nvSpPr>
        <p:spPr>
          <a:xfrm>
            <a:off x="5474256" y="4896803"/>
            <a:ext cx="368177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면접 세팅에서 이력서 선택 기능 추가</a:t>
            </a:r>
            <a:endParaRPr b="0" i="0" sz="1750" u="none" cap="none" strike="noStrike"/>
          </a:p>
        </p:txBody>
      </p:sp>
      <p:sp>
        <p:nvSpPr>
          <p:cNvPr id="119" name="Google Shape;119;p17"/>
          <p:cNvSpPr/>
          <p:nvPr/>
        </p:nvSpPr>
        <p:spPr>
          <a:xfrm>
            <a:off x="9640133" y="2566511"/>
            <a:ext cx="4196358" cy="3676293"/>
          </a:xfrm>
          <a:prstGeom prst="roundRect">
            <a:avLst>
              <a:gd fmla="val 2591" name="adj"/>
            </a:avLst>
          </a:prstGeom>
          <a:solidFill>
            <a:srgbClr val="FFFFFF">
              <a:alpha val="74901"/>
            </a:srgbClr>
          </a:solidFill>
          <a:ln cap="flat" cmpd="sng" w="3047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9670613" y="2596991"/>
            <a:ext cx="4135398" cy="680442"/>
          </a:xfrm>
          <a:prstGeom prst="roundRect">
            <a:avLst>
              <a:gd fmla="val 8626" name="adj"/>
            </a:avLst>
          </a:prstGeom>
          <a:solidFill>
            <a:srgbClr val="CC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68232" y="272069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/>
          <p:nvPr/>
        </p:nvSpPr>
        <p:spPr>
          <a:xfrm>
            <a:off x="9897427" y="3504248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성능 최적화</a:t>
            </a:r>
            <a:endParaRPr b="0" i="0" sz="2300" u="none" cap="none" strike="noStrike"/>
          </a:p>
        </p:txBody>
      </p:sp>
      <p:sp>
        <p:nvSpPr>
          <p:cNvPr id="123" name="Google Shape;123;p17"/>
          <p:cNvSpPr/>
          <p:nvPr/>
        </p:nvSpPr>
        <p:spPr>
          <a:xfrm>
            <a:off x="9897427" y="4012406"/>
            <a:ext cx="368177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React Hook으로 API 중복 호출 방지</a:t>
            </a:r>
            <a:endParaRPr b="0" i="0" sz="1750" u="none" cap="none" strike="noStrike"/>
          </a:p>
        </p:txBody>
      </p:sp>
      <p:sp>
        <p:nvSpPr>
          <p:cNvPr id="124" name="Google Shape;124;p17"/>
          <p:cNvSpPr/>
          <p:nvPr/>
        </p:nvSpPr>
        <p:spPr>
          <a:xfrm>
            <a:off x="9897427" y="4817507"/>
            <a:ext cx="368177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데이터 캐싱으로 렌더링 속도 향상</a:t>
            </a:r>
            <a:endParaRPr b="0" i="0" sz="1750" u="none" cap="none" strike="noStrike"/>
          </a:p>
        </p:txBody>
      </p:sp>
      <p:sp>
        <p:nvSpPr>
          <p:cNvPr id="125" name="Google Shape;125;p17"/>
          <p:cNvSpPr/>
          <p:nvPr/>
        </p:nvSpPr>
        <p:spPr>
          <a:xfrm>
            <a:off x="9897427" y="5259705"/>
            <a:ext cx="368177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Local Storage 활용한 면접 상태 복원</a:t>
            </a:r>
            <a:endParaRPr b="0" i="0" sz="1750" u="none" cap="none" strike="noStrike"/>
          </a:p>
        </p:txBody>
      </p:sp>
      <p:sp>
        <p:nvSpPr>
          <p:cNvPr id="126" name="Google Shape;126;p17"/>
          <p:cNvSpPr/>
          <p:nvPr/>
        </p:nvSpPr>
        <p:spPr>
          <a:xfrm>
            <a:off x="793790" y="6497955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현재 면접 히스토리 API 연동과 면접 흐름 테스트 웹페이지를 구축 중</a:t>
            </a:r>
            <a:endParaRPr b="0" i="0" sz="1750" u="none" cap="none" strike="noStrike"/>
          </a:p>
        </p:txBody>
      </p:sp>
      <p:sp>
        <p:nvSpPr>
          <p:cNvPr id="127" name="Google Shape;127;p17"/>
          <p:cNvSpPr/>
          <p:nvPr/>
        </p:nvSpPr>
        <p:spPr>
          <a:xfrm>
            <a:off x="12468600" y="7720800"/>
            <a:ext cx="2161800" cy="508800"/>
          </a:xfrm>
          <a:prstGeom prst="rect">
            <a:avLst/>
          </a:prstGeom>
          <a:solidFill>
            <a:srgbClr val="E9F0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-171] 공부 끝 - 오르비" id="128" name="Google Shape;128;p17"/>
          <p:cNvPicPr preferRelativeResize="0"/>
          <p:nvPr/>
        </p:nvPicPr>
        <p:blipFill rotWithShape="1">
          <a:blip r:embed="rId6">
            <a:alphaModFix/>
          </a:blip>
          <a:srcRect b="0" l="33061" r="0" t="0"/>
          <a:stretch/>
        </p:blipFill>
        <p:spPr>
          <a:xfrm flipH="1">
            <a:off x="12301448" y="5916907"/>
            <a:ext cx="2328952" cy="2261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>
            <a:off x="12535267" y="5916909"/>
            <a:ext cx="1522739" cy="152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04625" y="5883150"/>
            <a:ext cx="1515053" cy="232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131" name="Google Shape;131;p17"/>
          <p:cNvPicPr preferRelativeResize="0"/>
          <p:nvPr/>
        </p:nvPicPr>
        <p:blipFill rotWithShape="1">
          <a:blip r:embed="rId6">
            <a:alphaModFix/>
          </a:blip>
          <a:srcRect b="0" l="33061" r="0" t="0"/>
          <a:stretch/>
        </p:blipFill>
        <p:spPr>
          <a:xfrm>
            <a:off x="2541592" y="2593138"/>
            <a:ext cx="700747" cy="68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33061" r="0" t="0"/>
          <a:stretch/>
        </p:blipFill>
        <p:spPr>
          <a:xfrm>
            <a:off x="6964754" y="2593138"/>
            <a:ext cx="700748" cy="68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33061" r="0" t="0"/>
          <a:stretch/>
        </p:blipFill>
        <p:spPr>
          <a:xfrm>
            <a:off x="11387917" y="2597000"/>
            <a:ext cx="700748" cy="68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718661" y="564594"/>
            <a:ext cx="8139232" cy="673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etrona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백엔드 개발</a:t>
            </a:r>
            <a:endParaRPr b="0" i="0" sz="4200" u="none" cap="none" strike="noStrike"/>
          </a:p>
        </p:txBody>
      </p:sp>
      <p:sp>
        <p:nvSpPr>
          <p:cNvPr id="140" name="Google Shape;140;p18"/>
          <p:cNvSpPr/>
          <p:nvPr/>
        </p:nvSpPr>
        <p:spPr>
          <a:xfrm>
            <a:off x="7573327" y="1751409"/>
            <a:ext cx="2695099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API 시스템 정비 완료</a:t>
            </a:r>
            <a:endParaRPr b="0" i="0" sz="2100" u="none" cap="none" strike="noStrike"/>
          </a:p>
        </p:txBody>
      </p:sp>
      <p:sp>
        <p:nvSpPr>
          <p:cNvPr id="141" name="Google Shape;141;p18"/>
          <p:cNvSpPr/>
          <p:nvPr/>
        </p:nvSpPr>
        <p:spPr>
          <a:xfrm>
            <a:off x="7573327" y="2293620"/>
            <a:ext cx="634603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전체 API 명세서 작성 완료</a:t>
            </a:r>
            <a:endParaRPr b="0" i="0" sz="1600" u="none" cap="none" strike="noStrike"/>
          </a:p>
        </p:txBody>
      </p:sp>
      <p:sp>
        <p:nvSpPr>
          <p:cNvPr id="142" name="Google Shape;142;p18"/>
          <p:cNvSpPr/>
          <p:nvPr/>
        </p:nvSpPr>
        <p:spPr>
          <a:xfrm>
            <a:off x="7573327" y="2694027"/>
            <a:ext cx="634603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backend/routers, backend/schemas 구조화</a:t>
            </a:r>
            <a:endParaRPr b="0" i="0" sz="1600" u="none" cap="none" strike="noStrike"/>
          </a:p>
        </p:txBody>
      </p:sp>
      <p:sp>
        <p:nvSpPr>
          <p:cNvPr id="143" name="Google Shape;143;p18"/>
          <p:cNvSpPr/>
          <p:nvPr/>
        </p:nvSpPr>
        <p:spPr>
          <a:xfrm>
            <a:off x="7573327" y="3094434"/>
            <a:ext cx="634603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사용하지 않는 API 제거로 최적화</a:t>
            </a:r>
            <a:endParaRPr b="0" i="0" sz="1600" u="none" cap="none" strike="noStrike"/>
          </a:p>
        </p:txBody>
      </p:sp>
      <p:sp>
        <p:nvSpPr>
          <p:cNvPr id="144" name="Google Shape;144;p18"/>
          <p:cNvSpPr/>
          <p:nvPr/>
        </p:nvSpPr>
        <p:spPr>
          <a:xfrm>
            <a:off x="7573327" y="3628311"/>
            <a:ext cx="2695099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인증 시스템 구축</a:t>
            </a:r>
            <a:endParaRPr b="0" i="0" sz="2100" u="none" cap="none" strike="noStrike"/>
          </a:p>
        </p:txBody>
      </p:sp>
      <p:sp>
        <p:nvSpPr>
          <p:cNvPr id="145" name="Google Shape;145;p18"/>
          <p:cNvSpPr/>
          <p:nvPr/>
        </p:nvSpPr>
        <p:spPr>
          <a:xfrm>
            <a:off x="7573327" y="4170521"/>
            <a:ext cx="634603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Supabase 기반 회원 관리 시스템</a:t>
            </a:r>
            <a:endParaRPr b="0" i="0" sz="1600" u="none" cap="none" strike="noStrike"/>
          </a:p>
        </p:txBody>
      </p:sp>
      <p:sp>
        <p:nvSpPr>
          <p:cNvPr id="146" name="Google Shape;146;p18"/>
          <p:cNvSpPr/>
          <p:nvPr/>
        </p:nvSpPr>
        <p:spPr>
          <a:xfrm>
            <a:off x="7573327" y="4570928"/>
            <a:ext cx="634603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JWT 토큰 기반 안전한 인증 체계</a:t>
            </a:r>
            <a:endParaRPr b="0" i="0" sz="1600" u="none" cap="none" strike="noStrike"/>
          </a:p>
        </p:txBody>
      </p:sp>
      <p:sp>
        <p:nvSpPr>
          <p:cNvPr id="147" name="Google Shape;147;p18"/>
          <p:cNvSpPr/>
          <p:nvPr/>
        </p:nvSpPr>
        <p:spPr>
          <a:xfrm>
            <a:off x="7573327" y="5104805"/>
            <a:ext cx="2695099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면접 관리 시스템 개선</a:t>
            </a:r>
            <a:endParaRPr b="0" i="0" sz="2100" u="none" cap="none" strike="noStrike"/>
          </a:p>
        </p:txBody>
      </p:sp>
      <p:sp>
        <p:nvSpPr>
          <p:cNvPr id="148" name="Google Shape;148;p18"/>
          <p:cNvSpPr/>
          <p:nvPr/>
        </p:nvSpPr>
        <p:spPr>
          <a:xfrm>
            <a:off x="7573327" y="5647015"/>
            <a:ext cx="634603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면접 세션 관리 파일 모듈화</a:t>
            </a:r>
            <a:endParaRPr b="0" i="0" sz="1600" u="none" cap="none" strike="noStrike"/>
          </a:p>
        </p:txBody>
      </p:sp>
      <p:sp>
        <p:nvSpPr>
          <p:cNvPr id="149" name="Google Shape;149;p18"/>
          <p:cNvSpPr/>
          <p:nvPr/>
        </p:nvSpPr>
        <p:spPr>
          <a:xfrm>
            <a:off x="7573327" y="6047422"/>
            <a:ext cx="634603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면접관 모델 상태/흐름 관리 백엔드 이관</a:t>
            </a:r>
            <a:endParaRPr b="0" i="0" sz="1600" u="none" cap="none" strike="noStrike"/>
          </a:p>
        </p:txBody>
      </p:sp>
      <p:sp>
        <p:nvSpPr>
          <p:cNvPr id="150" name="Google Shape;150;p18"/>
          <p:cNvSpPr/>
          <p:nvPr/>
        </p:nvSpPr>
        <p:spPr>
          <a:xfrm>
            <a:off x="12468600" y="7720800"/>
            <a:ext cx="2161800" cy="508800"/>
          </a:xfrm>
          <a:prstGeom prst="rect">
            <a:avLst/>
          </a:prstGeom>
          <a:solidFill>
            <a:srgbClr val="E9F0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-171] 공부 끝 - 오르비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 flipH="1">
            <a:off x="12220283" y="5854409"/>
            <a:ext cx="2410118" cy="234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429457">
            <a:off x="12517750" y="5854411"/>
            <a:ext cx="1575808" cy="1575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1442928">
            <a:off x="10415741" y="6019550"/>
            <a:ext cx="1680032" cy="258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390650"/>
            <a:ext cx="7075835" cy="66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0801"/>
            <a:ext cx="12037913" cy="63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/>
          <p:nvPr/>
        </p:nvSpPr>
        <p:spPr>
          <a:xfrm>
            <a:off x="718661" y="564594"/>
            <a:ext cx="81393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etrona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백엔드 개발</a:t>
            </a:r>
            <a:endParaRPr b="0" i="0" sz="4200" u="none" cap="none" strike="noStrike"/>
          </a:p>
        </p:txBody>
      </p:sp>
      <p:sp>
        <p:nvSpPr>
          <p:cNvPr id="162" name="Google Shape;162;p19"/>
          <p:cNvSpPr/>
          <p:nvPr/>
        </p:nvSpPr>
        <p:spPr>
          <a:xfrm>
            <a:off x="12468600" y="7720800"/>
            <a:ext cx="2161800" cy="508800"/>
          </a:xfrm>
          <a:prstGeom prst="rect">
            <a:avLst/>
          </a:prstGeom>
          <a:solidFill>
            <a:srgbClr val="E9F0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-171] 공부 끝 - 오르비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33061" r="0" t="0"/>
          <a:stretch/>
        </p:blipFill>
        <p:spPr>
          <a:xfrm flipH="1">
            <a:off x="12220283" y="5854409"/>
            <a:ext cx="2410118" cy="234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2593950" y="5854411"/>
            <a:ext cx="1575808" cy="1575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81750" y="5819475"/>
            <a:ext cx="1567853" cy="24101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793790" y="878681"/>
            <a:ext cx="7802166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TTS/STT 시스템</a:t>
            </a:r>
            <a:endParaRPr b="0" i="0" sz="4650" u="none" cap="none" strike="noStrike"/>
          </a:p>
        </p:txBody>
      </p:sp>
      <p:sp>
        <p:nvSpPr>
          <p:cNvPr id="172" name="Google Shape;172;p20"/>
          <p:cNvSpPr/>
          <p:nvPr/>
        </p:nvSpPr>
        <p:spPr>
          <a:xfrm>
            <a:off x="1601986" y="3345418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TTS 구현</a:t>
            </a:r>
            <a:endParaRPr b="0" i="0" sz="2300" u="none" cap="none" strike="noStrike"/>
          </a:p>
        </p:txBody>
      </p:sp>
      <p:sp>
        <p:nvSpPr>
          <p:cNvPr id="173" name="Google Shape;173;p20"/>
          <p:cNvSpPr/>
          <p:nvPr/>
        </p:nvSpPr>
        <p:spPr>
          <a:xfrm>
            <a:off x="793790" y="3853577"/>
            <a:ext cx="37852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ElevenLabs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기반 TTS 시스템 도입</a:t>
            </a:r>
            <a:endParaRPr b="0" i="0" sz="1750" u="none" cap="none" strike="noStrike"/>
          </a:p>
        </p:txBody>
      </p:sp>
      <p:sp>
        <p:nvSpPr>
          <p:cNvPr id="174" name="Google Shape;174;p20"/>
          <p:cNvSpPr/>
          <p:nvPr/>
        </p:nvSpPr>
        <p:spPr>
          <a:xfrm>
            <a:off x="793790" y="4295775"/>
            <a:ext cx="37852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면접관 목소리 3종, 춘식이 2종 선정</a:t>
            </a:r>
            <a:endParaRPr b="0" i="0" sz="1750" u="none" cap="none" strike="noStrike"/>
          </a:p>
        </p:txBody>
      </p:sp>
      <p:sp>
        <p:nvSpPr>
          <p:cNvPr id="175" name="Google Shape;175;p20"/>
          <p:cNvSpPr/>
          <p:nvPr/>
        </p:nvSpPr>
        <p:spPr>
          <a:xfrm>
            <a:off x="793790" y="4737973"/>
            <a:ext cx="3785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백엔드에서 StreamingResponse로 전달</a:t>
            </a:r>
            <a:endParaRPr b="0" i="0" sz="1750" u="none" cap="none" strike="noStrike"/>
          </a:p>
        </p:txBody>
      </p:sp>
      <p:pic>
        <p:nvPicPr>
          <p:cNvPr descr="preencoded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653" y="2122170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7717" y="4192429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/>
          <p:nvPr/>
        </p:nvSpPr>
        <p:spPr>
          <a:xfrm>
            <a:off x="9937790" y="2076569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STT 모델 비교</a:t>
            </a:r>
            <a:endParaRPr b="0" i="0" sz="2300" u="none" cap="none" strike="noStrike"/>
          </a:p>
        </p:txBody>
      </p:sp>
      <p:sp>
        <p:nvSpPr>
          <p:cNvPr id="179" name="Google Shape;179;p20"/>
          <p:cNvSpPr/>
          <p:nvPr/>
        </p:nvSpPr>
        <p:spPr>
          <a:xfrm>
            <a:off x="9937790" y="2584728"/>
            <a:ext cx="3898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일레븐랩스 vs OpenAI Whisper 대결</a:t>
            </a:r>
            <a:endParaRPr b="0" i="0" sz="1750" u="none" cap="none" strike="noStrike"/>
          </a:p>
        </p:txBody>
      </p:sp>
      <p:sp>
        <p:nvSpPr>
          <p:cNvPr id="180" name="Google Shape;180;p20"/>
          <p:cNvSpPr/>
          <p:nvPr/>
        </p:nvSpPr>
        <p:spPr>
          <a:xfrm>
            <a:off x="9937790" y="3389828"/>
            <a:ext cx="3898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GPT로 라벨 데이터 생성해 테스트</a:t>
            </a:r>
            <a:endParaRPr b="0" i="0" sz="1750" u="none" cap="none" strike="noStrike"/>
          </a:p>
        </p:txBody>
      </p:sp>
      <p:sp>
        <p:nvSpPr>
          <p:cNvPr id="181" name="Google Shape;181;p20"/>
          <p:cNvSpPr/>
          <p:nvPr/>
        </p:nvSpPr>
        <p:spPr>
          <a:xfrm>
            <a:off x="9937790" y="3832027"/>
            <a:ext cx="3898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Whisper 'small' 모델 최종 선택</a:t>
            </a:r>
            <a:endParaRPr b="0" i="0" sz="1750" u="none" cap="none" strike="noStrike"/>
          </a:p>
        </p:txBody>
      </p:sp>
      <p:pic>
        <p:nvPicPr>
          <p:cNvPr descr="preencoded.png" id="182" name="Google Shape;18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2653" y="2122170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44326" y="2808803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9937790" y="4535091"/>
            <a:ext cx="2976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추가 비교 예정</a:t>
            </a:r>
            <a:endParaRPr b="0" i="0" sz="2300" u="none" cap="none" strike="noStrike"/>
          </a:p>
        </p:txBody>
      </p:sp>
      <p:sp>
        <p:nvSpPr>
          <p:cNvPr id="185" name="Google Shape;185;p20"/>
          <p:cNvSpPr/>
          <p:nvPr/>
        </p:nvSpPr>
        <p:spPr>
          <a:xfrm>
            <a:off x="9937790" y="5043249"/>
            <a:ext cx="3898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유럽: 일레븐랩스</a:t>
            </a:r>
            <a:endParaRPr b="0" i="0" sz="1750" u="none" cap="none" strike="noStrike"/>
          </a:p>
        </p:txBody>
      </p:sp>
      <p:sp>
        <p:nvSpPr>
          <p:cNvPr id="186" name="Google Shape;186;p20"/>
          <p:cNvSpPr/>
          <p:nvPr/>
        </p:nvSpPr>
        <p:spPr>
          <a:xfrm>
            <a:off x="9937790" y="5485448"/>
            <a:ext cx="3898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미국: OpenAI Whisper</a:t>
            </a:r>
            <a:endParaRPr b="0" i="0" sz="1750" u="none" cap="none" strike="noStrike"/>
          </a:p>
        </p:txBody>
      </p:sp>
      <p:sp>
        <p:nvSpPr>
          <p:cNvPr id="187" name="Google Shape;187;p20"/>
          <p:cNvSpPr/>
          <p:nvPr/>
        </p:nvSpPr>
        <p:spPr>
          <a:xfrm>
            <a:off x="9937790" y="5927646"/>
            <a:ext cx="3898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중국: Qwen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Deepseek</a:t>
            </a:r>
            <a:endParaRPr b="0" i="0" sz="1750" u="none" cap="none" strike="noStrike"/>
          </a:p>
        </p:txBody>
      </p:sp>
      <p:sp>
        <p:nvSpPr>
          <p:cNvPr id="188" name="Google Shape;188;p20"/>
          <p:cNvSpPr/>
          <p:nvPr/>
        </p:nvSpPr>
        <p:spPr>
          <a:xfrm>
            <a:off x="9937790" y="6369844"/>
            <a:ext cx="3898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한국: Mi:dm</a:t>
            </a:r>
            <a:endParaRPr b="0" i="0" sz="1750" u="none" cap="none" strike="noStrike"/>
          </a:p>
        </p:txBody>
      </p:sp>
      <p:pic>
        <p:nvPicPr>
          <p:cNvPr descr="preencoded.png" id="189" name="Google Shape;18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2653" y="2122170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44326" y="5576054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/>
          <p:nvPr/>
        </p:nvSpPr>
        <p:spPr>
          <a:xfrm>
            <a:off x="793790" y="698789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멘토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님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피드백: 프론트엔드에서 STT 처리가 더 효율적! async 방식 적용 예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정</a:t>
            </a:r>
            <a:endParaRPr b="0" i="0" sz="1750" u="none" cap="none" strike="noStrike"/>
          </a:p>
        </p:txBody>
      </p:sp>
      <p:sp>
        <p:nvSpPr>
          <p:cNvPr id="192" name="Google Shape;192;p20"/>
          <p:cNvSpPr/>
          <p:nvPr/>
        </p:nvSpPr>
        <p:spPr>
          <a:xfrm>
            <a:off x="12468600" y="7720800"/>
            <a:ext cx="2161800" cy="508800"/>
          </a:xfrm>
          <a:prstGeom prst="rect">
            <a:avLst/>
          </a:prstGeom>
          <a:solidFill>
            <a:srgbClr val="E9F0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-171] 공부 끝 - 오르비" id="193" name="Google Shape;193;p20"/>
          <p:cNvPicPr preferRelativeResize="0"/>
          <p:nvPr/>
        </p:nvPicPr>
        <p:blipFill rotWithShape="1">
          <a:blip r:embed="rId9">
            <a:alphaModFix/>
          </a:blip>
          <a:srcRect b="0" l="33061" r="0" t="0"/>
          <a:stretch/>
        </p:blipFill>
        <p:spPr>
          <a:xfrm flipH="1">
            <a:off x="12472217" y="118807"/>
            <a:ext cx="2158182" cy="2095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12688895" y="118809"/>
            <a:ext cx="1411081" cy="1411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-5400000">
            <a:off x="13408449" y="2151902"/>
            <a:ext cx="1032399" cy="15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/>
          <p:nvPr/>
        </p:nvSpPr>
        <p:spPr>
          <a:xfrm>
            <a:off x="6239828" y="936665"/>
            <a:ext cx="5883473" cy="706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etrona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AI 모델 개발</a:t>
            </a:r>
            <a:endParaRPr b="0" i="0" sz="4400" u="none" cap="none" strike="noStrike"/>
          </a:p>
        </p:txBody>
      </p:sp>
      <p:sp>
        <p:nvSpPr>
          <p:cNvPr id="202" name="Google Shape;202;p21"/>
          <p:cNvSpPr/>
          <p:nvPr/>
        </p:nvSpPr>
        <p:spPr>
          <a:xfrm>
            <a:off x="6482001" y="1965841"/>
            <a:ext cx="30480" cy="5326975"/>
          </a:xfrm>
          <a:prstGeom prst="roundRect">
            <a:avLst>
              <a:gd fmla="val 296628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6693694" y="2192774"/>
            <a:ext cx="645795" cy="30480"/>
          </a:xfrm>
          <a:prstGeom prst="roundRect">
            <a:avLst>
              <a:gd fmla="val 296628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6239828" y="1965841"/>
            <a:ext cx="484346" cy="484346"/>
          </a:xfrm>
          <a:prstGeom prst="roundRect">
            <a:avLst>
              <a:gd fmla="val 18667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6312515" y="1996142"/>
            <a:ext cx="338971" cy="423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Petrona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2650" u="none" cap="none" strike="noStrike"/>
          </a:p>
        </p:txBody>
      </p:sp>
      <p:sp>
        <p:nvSpPr>
          <p:cNvPr id="206" name="Google Shape;206;p21"/>
          <p:cNvSpPr/>
          <p:nvPr/>
        </p:nvSpPr>
        <p:spPr>
          <a:xfrm>
            <a:off x="7558326" y="2039779"/>
            <a:ext cx="2825353" cy="353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피드백 모델 최적화</a:t>
            </a:r>
            <a:endParaRPr b="0" i="0" sz="2200" u="none" cap="none" strike="noStrike"/>
          </a:p>
        </p:txBody>
      </p:sp>
      <p:sp>
        <p:nvSpPr>
          <p:cNvPr id="207" name="Google Shape;207;p21"/>
          <p:cNvSpPr/>
          <p:nvPr/>
        </p:nvSpPr>
        <p:spPr>
          <a:xfrm>
            <a:off x="7558326" y="2521982"/>
            <a:ext cx="6318647" cy="344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Temperature 0.3 → 0.</a:t>
            </a: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으로 조정해 일관성 극대화</a:t>
            </a:r>
            <a:endParaRPr b="0" i="0" sz="1650" u="none" cap="none" strike="noStrike"/>
          </a:p>
        </p:txBody>
      </p:sp>
      <p:sp>
        <p:nvSpPr>
          <p:cNvPr id="208" name="Google Shape;208;p21"/>
          <p:cNvSpPr/>
          <p:nvPr/>
        </p:nvSpPr>
        <p:spPr>
          <a:xfrm>
            <a:off x="7558326" y="2995374"/>
            <a:ext cx="6318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난이도별 성능: 2레벨(80-81점), 7레벨(92점), 10레벨(89점)</a:t>
            </a:r>
            <a:endParaRPr b="0" i="0" sz="1650" u="none" cap="none" strike="noStrike"/>
          </a:p>
        </p:txBody>
      </p:sp>
      <p:sp>
        <p:nvSpPr>
          <p:cNvPr id="209" name="Google Shape;209;p21"/>
          <p:cNvSpPr/>
          <p:nvPr/>
        </p:nvSpPr>
        <p:spPr>
          <a:xfrm>
            <a:off x="6693694" y="3997166"/>
            <a:ext cx="645795" cy="30480"/>
          </a:xfrm>
          <a:prstGeom prst="roundRect">
            <a:avLst>
              <a:gd fmla="val 296628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6239828" y="3770233"/>
            <a:ext cx="484346" cy="484346"/>
          </a:xfrm>
          <a:prstGeom prst="roundRect">
            <a:avLst>
              <a:gd fmla="val 18667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6312515" y="3800535"/>
            <a:ext cx="338971" cy="423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Petrona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2650" u="none" cap="none" strike="noStrike"/>
          </a:p>
        </p:txBody>
      </p:sp>
      <p:sp>
        <p:nvSpPr>
          <p:cNvPr id="212" name="Google Shape;212;p21"/>
          <p:cNvSpPr/>
          <p:nvPr/>
        </p:nvSpPr>
        <p:spPr>
          <a:xfrm>
            <a:off x="7558326" y="3844171"/>
            <a:ext cx="2825353" cy="353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프롬프트 전문화</a:t>
            </a:r>
            <a:endParaRPr b="0" i="0" sz="2200" u="none" cap="none" strike="noStrike"/>
          </a:p>
        </p:txBody>
      </p:sp>
      <p:sp>
        <p:nvSpPr>
          <p:cNvPr id="213" name="Google Shape;213;p21"/>
          <p:cNvSpPr/>
          <p:nvPr/>
        </p:nvSpPr>
        <p:spPr>
          <a:xfrm>
            <a:off x="7558326" y="5144095"/>
            <a:ext cx="6318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회사, 직무, 이력서 기반 3차원 DNA 질문생성 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매트릭스 구현</a:t>
            </a:r>
            <a:endParaRPr b="0" i="0" sz="1650" u="none" cap="none" strike="noStrike"/>
          </a:p>
        </p:txBody>
      </p:sp>
      <p:sp>
        <p:nvSpPr>
          <p:cNvPr id="214" name="Google Shape;214;p21"/>
          <p:cNvSpPr/>
          <p:nvPr/>
        </p:nvSpPr>
        <p:spPr>
          <a:xfrm>
            <a:off x="7558326" y="4326374"/>
            <a:ext cx="63186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기존의 모호했던 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면접관 </a:t>
            </a: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유형별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역할 완전 분리</a:t>
            </a:r>
            <a:endParaRPr sz="16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5개 직무별 질문 답변 생성 완전 분리</a:t>
            </a:r>
            <a:endParaRPr sz="16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6693694" y="6145887"/>
            <a:ext cx="645795" cy="30480"/>
          </a:xfrm>
          <a:prstGeom prst="roundRect">
            <a:avLst>
              <a:gd fmla="val 296628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6239828" y="5918954"/>
            <a:ext cx="484346" cy="484346"/>
          </a:xfrm>
          <a:prstGeom prst="roundRect">
            <a:avLst>
              <a:gd fmla="val 18667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6312515" y="5949255"/>
            <a:ext cx="338971" cy="423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Petrona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2650" u="none" cap="none" strike="noStrike"/>
          </a:p>
        </p:txBody>
      </p:sp>
      <p:sp>
        <p:nvSpPr>
          <p:cNvPr id="218" name="Google Shape;218;p21"/>
          <p:cNvSpPr/>
          <p:nvPr/>
        </p:nvSpPr>
        <p:spPr>
          <a:xfrm>
            <a:off x="7558326" y="5992892"/>
            <a:ext cx="2825353" cy="353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모델 분리 완료</a:t>
            </a:r>
            <a:endParaRPr b="0" i="0" sz="2200" u="none" cap="none" strike="noStrike"/>
          </a:p>
        </p:txBody>
      </p:sp>
      <p:sp>
        <p:nvSpPr>
          <p:cNvPr id="219" name="Google Shape;219;p21"/>
          <p:cNvSpPr/>
          <p:nvPr/>
        </p:nvSpPr>
        <p:spPr>
          <a:xfrm>
            <a:off x="7558326" y="6475095"/>
            <a:ext cx="6318647" cy="344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지원자</a:t>
            </a: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와 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면접관</a:t>
            </a: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의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모델 독립화로 </a:t>
            </a: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단일 책임원칙 준수</a:t>
            </a:r>
            <a:endParaRPr b="0" i="0" sz="1650" u="none" cap="none" strike="noStrike"/>
          </a:p>
        </p:txBody>
      </p:sp>
      <p:sp>
        <p:nvSpPr>
          <p:cNvPr id="220" name="Google Shape;220;p21"/>
          <p:cNvSpPr/>
          <p:nvPr/>
        </p:nvSpPr>
        <p:spPr>
          <a:xfrm>
            <a:off x="7558326" y="6948488"/>
            <a:ext cx="6318647" cy="344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지원자 LLM 모델 분리와 프롬프트-모델 분리로 관리성 향상!</a:t>
            </a:r>
            <a:endParaRPr b="0" i="0" sz="1650" u="none" cap="none" strike="noStrike"/>
          </a:p>
        </p:txBody>
      </p:sp>
      <p:sp>
        <p:nvSpPr>
          <p:cNvPr id="221" name="Google Shape;221;p21"/>
          <p:cNvSpPr/>
          <p:nvPr/>
        </p:nvSpPr>
        <p:spPr>
          <a:xfrm>
            <a:off x="7558150" y="7382475"/>
            <a:ext cx="6318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이제 각 모델은 각자의 역할만 하고 상태 및 세션관리는 백엔드로 모두 이관</a:t>
            </a:r>
            <a:endParaRPr b="0" i="0" sz="1650" u="none" cap="none" strike="noStrike"/>
          </a:p>
        </p:txBody>
      </p:sp>
      <p:sp>
        <p:nvSpPr>
          <p:cNvPr id="222" name="Google Shape;222;p21"/>
          <p:cNvSpPr/>
          <p:nvPr/>
        </p:nvSpPr>
        <p:spPr>
          <a:xfrm>
            <a:off x="12468600" y="7720800"/>
            <a:ext cx="2161800" cy="508800"/>
          </a:xfrm>
          <a:prstGeom prst="rect">
            <a:avLst/>
          </a:prstGeom>
          <a:solidFill>
            <a:srgbClr val="E9F0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-171] 공부 끝 - 오르비"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368401" y="2476704"/>
            <a:ext cx="3374025" cy="3276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347" y="2476707"/>
            <a:ext cx="2206042" cy="220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3281399" y="2427799"/>
            <a:ext cx="2194904" cy="3374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7558351" y="3468774"/>
            <a:ext cx="6318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난이도에 따른 점수체계화는 수정예정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718661" y="564594"/>
            <a:ext cx="75255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Petrona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비언어적 분석 시스템</a:t>
            </a:r>
            <a:endParaRPr b="0" i="0" sz="4200" u="none" cap="none" strike="noStrike"/>
          </a:p>
        </p:txBody>
      </p:sp>
      <p:sp>
        <p:nvSpPr>
          <p:cNvPr id="233" name="Google Shape;233;p22"/>
          <p:cNvSpPr/>
          <p:nvPr/>
        </p:nvSpPr>
        <p:spPr>
          <a:xfrm>
            <a:off x="7573327" y="1751409"/>
            <a:ext cx="2969538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시선 분석 프로토타입</a:t>
            </a:r>
            <a:endParaRPr b="0" i="0" sz="2100" u="none" cap="none" strike="noStrike"/>
          </a:p>
        </p:txBody>
      </p:sp>
      <p:sp>
        <p:nvSpPr>
          <p:cNvPr id="234" name="Google Shape;234;p22"/>
          <p:cNvSpPr/>
          <p:nvPr/>
        </p:nvSpPr>
        <p:spPr>
          <a:xfrm>
            <a:off x="7573327" y="2293620"/>
            <a:ext cx="634603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화면 상단 응시 시 점수 증가 시스템</a:t>
            </a:r>
            <a:endParaRPr b="0" i="0" sz="1600" u="none" cap="none" strike="noStrike"/>
          </a:p>
        </p:txBody>
      </p:sp>
      <p:sp>
        <p:nvSpPr>
          <p:cNvPr id="235" name="Google Shape;235;p22"/>
          <p:cNvSpPr/>
          <p:nvPr/>
        </p:nvSpPr>
        <p:spPr>
          <a:xfrm>
            <a:off x="7573327" y="2694027"/>
            <a:ext cx="634603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발화 면접관 바라볼 때 추가 점수</a:t>
            </a:r>
            <a:endParaRPr b="0" i="0" sz="1600" u="none" cap="none" strike="noStrike"/>
          </a:p>
        </p:txBody>
      </p:sp>
      <p:sp>
        <p:nvSpPr>
          <p:cNvPr id="236" name="Google Shape;236;p22"/>
          <p:cNvSpPr/>
          <p:nvPr/>
        </p:nvSpPr>
        <p:spPr>
          <a:xfrm>
            <a:off x="7573327" y="3094434"/>
            <a:ext cx="634603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점수화를 어떻게 가져가야 할지 논의중</a:t>
            </a:r>
            <a:endParaRPr b="0" i="0" sz="1600" u="none" cap="none" strike="noStrike"/>
          </a:p>
        </p:txBody>
      </p:sp>
      <p:sp>
        <p:nvSpPr>
          <p:cNvPr id="237" name="Google Shape;237;p22"/>
          <p:cNvSpPr/>
          <p:nvPr/>
        </p:nvSpPr>
        <p:spPr>
          <a:xfrm>
            <a:off x="7573327" y="3628311"/>
            <a:ext cx="2695099" cy="336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etrona"/>
              <a:buNone/>
            </a:pPr>
            <a:r>
              <a:rPr b="1" lang="en-US" sz="2100">
                <a:latin typeface="Petrona"/>
                <a:ea typeface="Petrona"/>
                <a:cs typeface="Petrona"/>
                <a:sym typeface="Petrona"/>
              </a:rPr>
              <a:t>동작 분석 프로토타입</a:t>
            </a:r>
            <a:endParaRPr b="0" i="0" sz="2100" u="none" cap="none" strike="noStrike"/>
          </a:p>
        </p:txBody>
      </p:sp>
      <p:sp>
        <p:nvSpPr>
          <p:cNvPr id="238" name="Google Shape;238;p22"/>
          <p:cNvSpPr/>
          <p:nvPr/>
        </p:nvSpPr>
        <p:spPr>
          <a:xfrm>
            <a:off x="7573327" y="4170521"/>
            <a:ext cx="63459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lang="en-US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여기 뭐추가해아할지 모르겟음</a:t>
            </a:r>
            <a:endParaRPr b="0" i="0" sz="1600" u="none" cap="none" strike="noStrike"/>
          </a:p>
        </p:txBody>
      </p:sp>
      <p:sp>
        <p:nvSpPr>
          <p:cNvPr id="239" name="Google Shape;239;p22"/>
          <p:cNvSpPr/>
          <p:nvPr/>
        </p:nvSpPr>
        <p:spPr>
          <a:xfrm>
            <a:off x="7573327" y="4570928"/>
            <a:ext cx="63459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t/>
            </a:r>
            <a:endParaRPr b="0" i="0" sz="1600" u="none" cap="none" strike="noStrike"/>
          </a:p>
        </p:txBody>
      </p:sp>
      <p:sp>
        <p:nvSpPr>
          <p:cNvPr id="240" name="Google Shape;240;p22"/>
          <p:cNvSpPr/>
          <p:nvPr/>
        </p:nvSpPr>
        <p:spPr>
          <a:xfrm>
            <a:off x="7573327" y="4971336"/>
            <a:ext cx="63459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t/>
            </a:r>
            <a:endParaRPr b="0" i="0" sz="1600" u="none" cap="none" strike="noStrike"/>
          </a:p>
        </p:txBody>
      </p:sp>
      <p:sp>
        <p:nvSpPr>
          <p:cNvPr id="241" name="Google Shape;241;p22"/>
          <p:cNvSpPr/>
          <p:nvPr/>
        </p:nvSpPr>
        <p:spPr>
          <a:xfrm>
            <a:off x="7573327" y="5484733"/>
            <a:ext cx="6346031" cy="336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현재 시선 추적 정확도 개선 작업과 API 연동 준비 중</a:t>
            </a:r>
            <a:endParaRPr b="0" i="0" sz="1600" u="none" cap="none" strike="noStrike"/>
          </a:p>
        </p:txBody>
      </p:sp>
      <p:sp>
        <p:nvSpPr>
          <p:cNvPr id="242" name="Google Shape;242;p22"/>
          <p:cNvSpPr/>
          <p:nvPr/>
        </p:nvSpPr>
        <p:spPr>
          <a:xfrm>
            <a:off x="7573377" y="5820983"/>
            <a:ext cx="63459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243" name="Google Shape;243;p22"/>
          <p:cNvSpPr/>
          <p:nvPr/>
        </p:nvSpPr>
        <p:spPr>
          <a:xfrm>
            <a:off x="12468600" y="7720800"/>
            <a:ext cx="2161800" cy="508800"/>
          </a:xfrm>
          <a:prstGeom prst="rect">
            <a:avLst/>
          </a:prstGeom>
          <a:solidFill>
            <a:srgbClr val="E9F0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-171] 공부 끝 - 오르비"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368401" y="2476704"/>
            <a:ext cx="3374025" cy="3276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347" y="2622232"/>
            <a:ext cx="2206042" cy="220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3281399" y="2427799"/>
            <a:ext cx="2194904" cy="337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/>
          <p:nvPr/>
        </p:nvSpPr>
        <p:spPr>
          <a:xfrm>
            <a:off x="793790" y="1140143"/>
            <a:ext cx="7218164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이슈 관리</a:t>
            </a:r>
            <a:endParaRPr b="0" i="0" sz="4650" u="none" cap="none" strike="noStrike"/>
          </a:p>
        </p:txBody>
      </p:sp>
      <p:sp>
        <p:nvSpPr>
          <p:cNvPr id="253" name="Google Shape;253;p23"/>
          <p:cNvSpPr/>
          <p:nvPr/>
        </p:nvSpPr>
        <p:spPr>
          <a:xfrm>
            <a:off x="793790" y="2338030"/>
            <a:ext cx="4196358" cy="4133374"/>
          </a:xfrm>
          <a:prstGeom prst="roundRect">
            <a:avLst>
              <a:gd fmla="val 2305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1028224" y="2572464"/>
            <a:ext cx="2977039" cy="387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해결된 이슈</a:t>
            </a:r>
            <a:endParaRPr b="0" i="0" sz="2300" u="none" cap="none" strike="noStrike"/>
          </a:p>
        </p:txBody>
      </p:sp>
      <p:sp>
        <p:nvSpPr>
          <p:cNvPr id="255" name="Google Shape;255;p23"/>
          <p:cNvSpPr/>
          <p:nvPr/>
        </p:nvSpPr>
        <p:spPr>
          <a:xfrm>
            <a:off x="1028224" y="3095863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새로고침 시 TTS 오류 → Local Storage로 해결</a:t>
            </a:r>
            <a:endParaRPr b="0" i="0" sz="1750" u="none" cap="none" strike="noStrike"/>
          </a:p>
        </p:txBody>
      </p:sp>
      <p:sp>
        <p:nvSpPr>
          <p:cNvPr id="256" name="Google Shape;256;p23"/>
          <p:cNvSpPr/>
          <p:nvPr/>
        </p:nvSpPr>
        <p:spPr>
          <a:xfrm>
            <a:off x="1028224" y="3900964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API 중복 호출 → React Hook 캐싱으로 해결</a:t>
            </a:r>
            <a:endParaRPr b="0" i="0" sz="1750" u="none" cap="none" strike="noStrike"/>
          </a:p>
        </p:txBody>
      </p:sp>
      <p:sp>
        <p:nvSpPr>
          <p:cNvPr id="257" name="Google Shape;257;p23"/>
          <p:cNvSpPr/>
          <p:nvPr/>
        </p:nvSpPr>
        <p:spPr>
          <a:xfrm>
            <a:off x="1028224" y="4706064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면접관 역할 혼재 → 프롬프트 분리로 개선</a:t>
            </a:r>
            <a:endParaRPr b="0" i="0" sz="1750" u="none" cap="none" strike="noStrike"/>
          </a:p>
        </p:txBody>
      </p:sp>
      <p:sp>
        <p:nvSpPr>
          <p:cNvPr id="258" name="Google Shape;258;p23"/>
          <p:cNvSpPr/>
          <p:nvPr/>
        </p:nvSpPr>
        <p:spPr>
          <a:xfrm>
            <a:off x="1028224" y="5511165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답변 시간 종료 후 재진입 → 상태 관리 최적화</a:t>
            </a:r>
            <a:endParaRPr b="0" i="0" sz="1750" u="none" cap="none" strike="noStrike"/>
          </a:p>
        </p:txBody>
      </p:sp>
      <p:sp>
        <p:nvSpPr>
          <p:cNvPr id="259" name="Google Shape;259;p23"/>
          <p:cNvSpPr/>
          <p:nvPr/>
        </p:nvSpPr>
        <p:spPr>
          <a:xfrm>
            <a:off x="5216962" y="2338030"/>
            <a:ext cx="4196358" cy="4133374"/>
          </a:xfrm>
          <a:prstGeom prst="roundRect">
            <a:avLst>
              <a:gd fmla="val 2305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451396" y="2572464"/>
            <a:ext cx="2977039" cy="387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진행 중인 이슈</a:t>
            </a:r>
            <a:endParaRPr b="0" i="0" sz="2300" u="none" cap="none" strike="noStrike"/>
          </a:p>
        </p:txBody>
      </p:sp>
      <p:sp>
        <p:nvSpPr>
          <p:cNvPr id="261" name="Google Shape;261;p23"/>
          <p:cNvSpPr/>
          <p:nvPr/>
        </p:nvSpPr>
        <p:spPr>
          <a:xfrm>
            <a:off x="5451396" y="3095863"/>
            <a:ext cx="372749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시선 분석 정확도 개선 작업</a:t>
            </a:r>
            <a:endParaRPr b="0" i="0" sz="1750" u="none" cap="none" strike="noStrike"/>
          </a:p>
        </p:txBody>
      </p:sp>
      <p:sp>
        <p:nvSpPr>
          <p:cNvPr id="262" name="Google Shape;262;p23"/>
          <p:cNvSpPr/>
          <p:nvPr/>
        </p:nvSpPr>
        <p:spPr>
          <a:xfrm>
            <a:off x="5451400" y="3538050"/>
            <a:ext cx="4002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STT 모델 최종 선택 (추가 비교 진행)</a:t>
            </a:r>
            <a:endParaRPr b="0" i="0" sz="1750" u="none" cap="none" strike="noStrike"/>
          </a:p>
        </p:txBody>
      </p:sp>
      <p:sp>
        <p:nvSpPr>
          <p:cNvPr id="263" name="Google Shape;263;p23"/>
          <p:cNvSpPr/>
          <p:nvPr/>
        </p:nvSpPr>
        <p:spPr>
          <a:xfrm>
            <a:off x="5451396" y="4343162"/>
            <a:ext cx="3727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기획 직무 부적합 질문 필터링</a:t>
            </a:r>
            <a:endParaRPr b="0" i="0" sz="1750" u="none" cap="none" strike="noStrike"/>
          </a:p>
        </p:txBody>
      </p:sp>
      <p:sp>
        <p:nvSpPr>
          <p:cNvPr id="264" name="Google Shape;264;p23"/>
          <p:cNvSpPr/>
          <p:nvPr/>
        </p:nvSpPr>
        <p:spPr>
          <a:xfrm>
            <a:off x="5451396" y="4785360"/>
            <a:ext cx="3727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면접 히스토리 API 연동 중</a:t>
            </a:r>
            <a:endParaRPr b="0" i="0" sz="1750" u="none" cap="none" strike="noStrike"/>
          </a:p>
        </p:txBody>
      </p:sp>
      <p:sp>
        <p:nvSpPr>
          <p:cNvPr id="265" name="Google Shape;265;p23"/>
          <p:cNvSpPr/>
          <p:nvPr/>
        </p:nvSpPr>
        <p:spPr>
          <a:xfrm>
            <a:off x="9640133" y="2338030"/>
            <a:ext cx="4196358" cy="4133374"/>
          </a:xfrm>
          <a:prstGeom prst="roundRect">
            <a:avLst>
              <a:gd fmla="val 2305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9874568" y="2572464"/>
            <a:ext cx="2977039" cy="387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멘토링 피드백</a:t>
            </a:r>
            <a:endParaRPr b="0" i="0" sz="2300" u="none" cap="none" strike="noStrike"/>
          </a:p>
        </p:txBody>
      </p:sp>
      <p:sp>
        <p:nvSpPr>
          <p:cNvPr id="267" name="Google Shape;267;p23"/>
          <p:cNvSpPr/>
          <p:nvPr/>
        </p:nvSpPr>
        <p:spPr>
          <a:xfrm>
            <a:off x="9874568" y="3095863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STT는 프론트에서 async 처리가 효율적</a:t>
            </a:r>
            <a:endParaRPr b="0" i="0" sz="1750" u="none" cap="none" strike="noStrike"/>
          </a:p>
        </p:txBody>
      </p:sp>
      <p:sp>
        <p:nvSpPr>
          <p:cNvPr id="268" name="Google Shape;268;p23"/>
          <p:cNvSpPr/>
          <p:nvPr/>
        </p:nvSpPr>
        <p:spPr>
          <a:xfrm>
            <a:off x="9874568" y="3900964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모델 평가: 3-4개 STT 모델 비교 필요</a:t>
            </a:r>
            <a:endParaRPr b="0" i="0" sz="1750" u="none" cap="none" strike="noStrike"/>
          </a:p>
        </p:txBody>
      </p:sp>
      <p:sp>
        <p:nvSpPr>
          <p:cNvPr id="269" name="Google Shape;269;p23"/>
          <p:cNvSpPr/>
          <p:nvPr/>
        </p:nvSpPr>
        <p:spPr>
          <a:xfrm>
            <a:off x="9874568" y="4706064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배포 준비: Docker 기반 CI/CD 구축</a:t>
            </a:r>
            <a:endParaRPr b="0" i="0" sz="1750" u="none" cap="none" strike="noStrike"/>
          </a:p>
        </p:txBody>
      </p:sp>
      <p:sp>
        <p:nvSpPr>
          <p:cNvPr id="270" name="Google Shape;270;p23"/>
          <p:cNvSpPr/>
          <p:nvPr/>
        </p:nvSpPr>
        <p:spPr>
          <a:xfrm>
            <a:off x="9874568" y="5511165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지원자간 대화 제거, 면접관-지원자 집중</a:t>
            </a:r>
            <a:endParaRPr b="0" i="0" sz="1750" u="none" cap="none" strike="noStrike"/>
          </a:p>
        </p:txBody>
      </p:sp>
      <p:sp>
        <p:nvSpPr>
          <p:cNvPr id="271" name="Google Shape;271;p23"/>
          <p:cNvSpPr/>
          <p:nvPr/>
        </p:nvSpPr>
        <p:spPr>
          <a:xfrm>
            <a:off x="793790" y="6726555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272" name="Google Shape;272;p23"/>
          <p:cNvSpPr/>
          <p:nvPr/>
        </p:nvSpPr>
        <p:spPr>
          <a:xfrm>
            <a:off x="12468600" y="7720800"/>
            <a:ext cx="2161800" cy="508800"/>
          </a:xfrm>
          <a:prstGeom prst="rect">
            <a:avLst/>
          </a:prstGeom>
          <a:solidFill>
            <a:srgbClr val="E9F0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-171] 공부 끝 - 오르비" id="273" name="Google Shape;273;p23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-1" y="6178960"/>
            <a:ext cx="2080800" cy="202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404" y="6178962"/>
            <a:ext cx="1360490" cy="1360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796477" y="6148800"/>
            <a:ext cx="1353622" cy="208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/>
          <p:nvPr/>
        </p:nvSpPr>
        <p:spPr>
          <a:xfrm>
            <a:off x="5451396" y="5227562"/>
            <a:ext cx="3727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레벨에 맞는 점수화 체계 회의중</a:t>
            </a:r>
            <a:endParaRPr sz="1750">
              <a:solidFill>
                <a:schemeClr val="dk1"/>
              </a:solidFill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5451396" y="3940563"/>
            <a:ext cx="3727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비언어적 모델 점수화체계 회의중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/>
          <p:nvPr/>
        </p:nvSpPr>
        <p:spPr>
          <a:xfrm>
            <a:off x="650200" y="510897"/>
            <a:ext cx="601991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Petrona"/>
              <a:buNone/>
            </a:pPr>
            <a:r>
              <a:rPr b="1" lang="en-US" sz="3800">
                <a:latin typeface="Petrona"/>
                <a:ea typeface="Petrona"/>
                <a:cs typeface="Petrona"/>
                <a:sym typeface="Petrona"/>
              </a:rPr>
              <a:t>이번</a:t>
            </a:r>
            <a:r>
              <a:rPr b="1" i="0" lang="en-US" sz="38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 주 계획</a:t>
            </a:r>
            <a:endParaRPr b="0" i="0" sz="3800" u="none" cap="none" strike="noStrike"/>
          </a:p>
        </p:txBody>
      </p:sp>
      <p:pic>
        <p:nvPicPr>
          <p:cNvPr descr="preencoded.png" id="284" name="Google Shape;2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2171" y="1491972"/>
            <a:ext cx="10366058" cy="4744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" name="Google Shape;28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3281" y="2676463"/>
            <a:ext cx="666485" cy="66648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/>
          <p:nvPr/>
        </p:nvSpPr>
        <p:spPr>
          <a:xfrm>
            <a:off x="10069486" y="5100174"/>
            <a:ext cx="1946134" cy="393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배포 준비</a:t>
            </a:r>
            <a:endParaRPr b="0" i="0" sz="1400" u="none" cap="none" strike="noStrike"/>
          </a:p>
        </p:txBody>
      </p:sp>
      <p:pic>
        <p:nvPicPr>
          <p:cNvPr descr="preencoded.png" id="287" name="Google Shape;28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3325" y="2677713"/>
            <a:ext cx="666484" cy="666484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/>
          <p:nvPr/>
        </p:nvSpPr>
        <p:spPr>
          <a:xfrm>
            <a:off x="7616824" y="5100174"/>
            <a:ext cx="1946133" cy="393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AI 모델 개선</a:t>
            </a:r>
            <a:endParaRPr b="0" i="0" sz="1400" u="none" cap="none" strike="noStrike"/>
          </a:p>
        </p:txBody>
      </p:sp>
      <p:pic>
        <p:nvPicPr>
          <p:cNvPr descr="preencoded.png" id="289" name="Google Shape;28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3993" y="2677713"/>
            <a:ext cx="666484" cy="66648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/>
          <p:nvPr/>
        </p:nvSpPr>
        <p:spPr>
          <a:xfrm>
            <a:off x="5177492" y="5100174"/>
            <a:ext cx="1946133" cy="393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백엔드 완료</a:t>
            </a:r>
            <a:endParaRPr b="0" i="0" sz="1400" u="none" cap="none" strike="noStrike"/>
          </a:p>
        </p:txBody>
      </p:sp>
      <p:pic>
        <p:nvPicPr>
          <p:cNvPr descr="preencoded.png" id="291" name="Google Shape;29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1331" y="2677713"/>
            <a:ext cx="666484" cy="66648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/>
          <p:nvPr/>
        </p:nvSpPr>
        <p:spPr>
          <a:xfrm>
            <a:off x="2687104" y="5100178"/>
            <a:ext cx="19461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Petrona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프론트엔드 </a:t>
            </a:r>
            <a:r>
              <a:rPr b="1" lang="en-US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완료</a:t>
            </a:r>
            <a:endParaRPr b="0" i="0" sz="1400" u="none" cap="none" strike="noStrike"/>
          </a:p>
        </p:txBody>
      </p:sp>
      <p:sp>
        <p:nvSpPr>
          <p:cNvPr id="293" name="Google Shape;293;p24"/>
          <p:cNvSpPr/>
          <p:nvPr/>
        </p:nvSpPr>
        <p:spPr>
          <a:xfrm>
            <a:off x="650200" y="6445091"/>
            <a:ext cx="13329999" cy="1279922"/>
          </a:xfrm>
          <a:prstGeom prst="roundRect">
            <a:avLst>
              <a:gd fmla="val 6097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4" name="Google Shape;294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938" y="6684883"/>
            <a:ext cx="304800" cy="24384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4"/>
          <p:cNvSpPr/>
          <p:nvPr/>
        </p:nvSpPr>
        <p:spPr>
          <a:xfrm>
            <a:off x="1326475" y="6677263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Petrona"/>
              <a:buNone/>
            </a:pPr>
            <a:r>
              <a:rPr b="1" lang="en-US" sz="1900">
                <a:latin typeface="Petrona"/>
                <a:ea typeface="Petrona"/>
                <a:cs typeface="Petrona"/>
                <a:sym typeface="Petrona"/>
              </a:rPr>
              <a:t>이번</a:t>
            </a:r>
            <a:r>
              <a:rPr b="1" i="0" lang="en-US" sz="19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 주 핵심 목표</a:t>
            </a:r>
            <a:endParaRPr b="0" i="0" sz="1900" u="none" cap="none" strike="noStrike"/>
          </a:p>
        </p:txBody>
      </p:sp>
      <p:sp>
        <p:nvSpPr>
          <p:cNvPr id="296" name="Google Shape;296;p24"/>
          <p:cNvSpPr/>
          <p:nvPr/>
        </p:nvSpPr>
        <p:spPr>
          <a:xfrm>
            <a:off x="1326475" y="7167801"/>
            <a:ext cx="12467987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"MCP </a:t>
            </a:r>
            <a:r>
              <a:rPr lang="en-US" sz="1450">
                <a:latin typeface="Inter"/>
                <a:ea typeface="Inter"/>
                <a:cs typeface="Inter"/>
                <a:sym typeface="Inter"/>
              </a:rPr>
              <a:t>기반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배포 가능한 완성된 시스템 구축" </a:t>
            </a:r>
            <a:endParaRPr b="0" i="0" sz="1450" u="none" cap="none" strike="noStrike"/>
          </a:p>
        </p:txBody>
      </p:sp>
      <p:sp>
        <p:nvSpPr>
          <p:cNvPr id="297" name="Google Shape;297;p24"/>
          <p:cNvSpPr/>
          <p:nvPr/>
        </p:nvSpPr>
        <p:spPr>
          <a:xfrm>
            <a:off x="650200" y="7933968"/>
            <a:ext cx="1332999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t/>
            </a:r>
            <a:endParaRPr b="0" i="0" sz="1450" u="none" cap="none" strike="noStrike"/>
          </a:p>
        </p:txBody>
      </p:sp>
      <p:sp>
        <p:nvSpPr>
          <p:cNvPr id="298" name="Google Shape;298;p24"/>
          <p:cNvSpPr/>
          <p:nvPr/>
        </p:nvSpPr>
        <p:spPr>
          <a:xfrm>
            <a:off x="12468600" y="7720800"/>
            <a:ext cx="2161800" cy="508800"/>
          </a:xfrm>
          <a:prstGeom prst="rect">
            <a:avLst/>
          </a:prstGeom>
          <a:solidFill>
            <a:srgbClr val="E9F0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-171] 공부 끝 - 오르비" id="299" name="Google Shape;299;p24"/>
          <p:cNvPicPr preferRelativeResize="0"/>
          <p:nvPr/>
        </p:nvPicPr>
        <p:blipFill rotWithShape="1">
          <a:blip r:embed="rId9">
            <a:alphaModFix/>
          </a:blip>
          <a:srcRect b="0" l="33061" r="0" t="0"/>
          <a:stretch/>
        </p:blipFill>
        <p:spPr>
          <a:xfrm>
            <a:off x="3097902" y="2578825"/>
            <a:ext cx="1006050" cy="9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00" name="Google Shape;300;p24"/>
          <p:cNvPicPr preferRelativeResize="0"/>
          <p:nvPr/>
        </p:nvPicPr>
        <p:blipFill rotWithShape="1">
          <a:blip r:embed="rId9">
            <a:alphaModFix/>
          </a:blip>
          <a:srcRect b="0" l="33061" r="0" t="0"/>
          <a:stretch/>
        </p:blipFill>
        <p:spPr>
          <a:xfrm>
            <a:off x="5660614" y="2522525"/>
            <a:ext cx="1006050" cy="9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01" name="Google Shape;301;p24"/>
          <p:cNvPicPr preferRelativeResize="0"/>
          <p:nvPr/>
        </p:nvPicPr>
        <p:blipFill rotWithShape="1">
          <a:blip r:embed="rId9">
            <a:alphaModFix/>
          </a:blip>
          <a:srcRect b="0" l="33061" r="0" t="0"/>
          <a:stretch/>
        </p:blipFill>
        <p:spPr>
          <a:xfrm>
            <a:off x="8053852" y="2522525"/>
            <a:ext cx="1006050" cy="9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02" name="Google Shape;302;p24"/>
          <p:cNvPicPr preferRelativeResize="0"/>
          <p:nvPr/>
        </p:nvPicPr>
        <p:blipFill rotWithShape="1">
          <a:blip r:embed="rId9">
            <a:alphaModFix/>
          </a:blip>
          <a:srcRect b="0" l="33061" r="0" t="0"/>
          <a:stretch/>
        </p:blipFill>
        <p:spPr>
          <a:xfrm>
            <a:off x="10500827" y="2522525"/>
            <a:ext cx="1006050" cy="97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06588" y="2522530"/>
            <a:ext cx="666500" cy="666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>
            <a:off x="793790" y="899993"/>
            <a:ext cx="7902773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t/>
            </a:r>
            <a:endParaRPr b="0" i="0" sz="4650" u="none" cap="none" strike="noStrike"/>
          </a:p>
        </p:txBody>
      </p:sp>
      <p:sp>
        <p:nvSpPr>
          <p:cNvPr id="310" name="Google Shape;310;p25"/>
          <p:cNvSpPr/>
          <p:nvPr/>
        </p:nvSpPr>
        <p:spPr>
          <a:xfrm>
            <a:off x="1478042" y="3572232"/>
            <a:ext cx="278987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4450"/>
              <a:buFont typeface="Petrona"/>
              <a:buNone/>
            </a:pPr>
            <a:r>
              <a:rPr b="1" i="0" lang="en-US" sz="4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85%</a:t>
            </a:r>
            <a:endParaRPr b="0" i="0" sz="4450" u="none" cap="none" strike="noStrike"/>
          </a:p>
        </p:txBody>
      </p:sp>
      <p:pic>
        <p:nvPicPr>
          <p:cNvPr descr="preencoded.png" id="311" name="Google Shape;3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932" y="2154555"/>
            <a:ext cx="3402330" cy="340233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/>
          <p:nvPr/>
        </p:nvSpPr>
        <p:spPr>
          <a:xfrm>
            <a:off x="1384578" y="5840373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lang="en-US" sz="23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진행 상황 </a:t>
            </a:r>
            <a:endParaRPr sz="2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t/>
            </a:r>
            <a:endParaRPr sz="2300"/>
          </a:p>
        </p:txBody>
      </p:sp>
      <p:sp>
        <p:nvSpPr>
          <p:cNvPr id="313" name="Google Shape;313;p25"/>
          <p:cNvSpPr/>
          <p:nvPr/>
        </p:nvSpPr>
        <p:spPr>
          <a:xfrm>
            <a:off x="793790" y="6348532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아마도…?</a:t>
            </a:r>
            <a:endParaRPr b="0" i="0" sz="1750" u="none" cap="none" strike="noStrike"/>
          </a:p>
        </p:txBody>
      </p:sp>
      <p:sp>
        <p:nvSpPr>
          <p:cNvPr id="314" name="Google Shape;314;p25"/>
          <p:cNvSpPr/>
          <p:nvPr/>
        </p:nvSpPr>
        <p:spPr>
          <a:xfrm>
            <a:off x="5920145" y="3572232"/>
            <a:ext cx="278987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4450"/>
              <a:buFont typeface="Petrona"/>
              <a:buNone/>
            </a:pPr>
            <a:r>
              <a:rPr b="1" i="0" lang="en-US" sz="4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92%</a:t>
            </a:r>
            <a:endParaRPr b="0" i="0" sz="4450" u="none" cap="none" strike="noStrike"/>
          </a:p>
        </p:txBody>
      </p:sp>
      <p:pic>
        <p:nvPicPr>
          <p:cNvPr descr="preencoded.png" id="315" name="Google Shape;3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4035" y="2154555"/>
            <a:ext cx="3402330" cy="340233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5"/>
          <p:cNvSpPr/>
          <p:nvPr/>
        </p:nvSpPr>
        <p:spPr>
          <a:xfrm>
            <a:off x="5826681" y="5840373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lang="en-US" sz="2300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더위 레벨</a:t>
            </a:r>
            <a:endParaRPr b="0" i="0" sz="2300" u="none" cap="none" strike="noStrike"/>
          </a:p>
        </p:txBody>
      </p:sp>
      <p:sp>
        <p:nvSpPr>
          <p:cNvPr id="317" name="Google Shape;317;p25"/>
          <p:cNvSpPr/>
          <p:nvPr/>
        </p:nvSpPr>
        <p:spPr>
          <a:xfrm>
            <a:off x="5235893" y="6348532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최고의 불쾌감</a:t>
            </a:r>
            <a:endParaRPr b="0" i="0" sz="1750" u="none" cap="none" strike="noStrike"/>
          </a:p>
        </p:txBody>
      </p:sp>
      <p:sp>
        <p:nvSpPr>
          <p:cNvPr id="318" name="Google Shape;318;p25"/>
          <p:cNvSpPr/>
          <p:nvPr/>
        </p:nvSpPr>
        <p:spPr>
          <a:xfrm>
            <a:off x="10362248" y="3572232"/>
            <a:ext cx="2789873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4450"/>
              <a:buFont typeface="Petrona"/>
              <a:buNone/>
            </a:pPr>
            <a:r>
              <a:rPr b="1" i="0" lang="en-US" sz="44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100%</a:t>
            </a:r>
            <a:endParaRPr b="0" i="0" sz="4450" u="none" cap="none" strike="noStrike"/>
          </a:p>
        </p:txBody>
      </p:sp>
      <p:pic>
        <p:nvPicPr>
          <p:cNvPr descr="preencoded.png" id="319" name="Google Shape;31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6138" y="2154555"/>
            <a:ext cx="3402330" cy="340233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5"/>
          <p:cNvSpPr/>
          <p:nvPr/>
        </p:nvSpPr>
        <p:spPr>
          <a:xfrm>
            <a:off x="10268783" y="5840373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팀워크</a:t>
            </a:r>
            <a:endParaRPr b="0" i="0" sz="2300" u="none" cap="none" strike="noStrike"/>
          </a:p>
        </p:txBody>
      </p:sp>
      <p:sp>
        <p:nvSpPr>
          <p:cNvPr id="321" name="Google Shape;321;p25"/>
          <p:cNvSpPr/>
          <p:nvPr/>
        </p:nvSpPr>
        <p:spPr>
          <a:xfrm>
            <a:off x="9677995" y="6348532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/>
              <a:t>100점짜리 팀워크</a:t>
            </a:r>
            <a:endParaRPr b="0" i="0" sz="1750" u="none" cap="none" strike="noStrike"/>
          </a:p>
        </p:txBody>
      </p:sp>
      <p:sp>
        <p:nvSpPr>
          <p:cNvPr id="322" name="Google Shape;322;p25"/>
          <p:cNvSpPr/>
          <p:nvPr/>
        </p:nvSpPr>
        <p:spPr>
          <a:xfrm>
            <a:off x="793790" y="696658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/>
              <a:t>더운 여름이지만 남은시간도 함께 힘내보아요 !</a:t>
            </a:r>
            <a:endParaRPr b="0" i="0" sz="1750" u="none" cap="none" strike="noStrike"/>
          </a:p>
        </p:txBody>
      </p:sp>
      <p:sp>
        <p:nvSpPr>
          <p:cNvPr id="323" name="Google Shape;323;p25"/>
          <p:cNvSpPr/>
          <p:nvPr/>
        </p:nvSpPr>
        <p:spPr>
          <a:xfrm>
            <a:off x="12468600" y="7720800"/>
            <a:ext cx="2161800" cy="508800"/>
          </a:xfrm>
          <a:prstGeom prst="rect">
            <a:avLst/>
          </a:prstGeom>
          <a:solidFill>
            <a:srgbClr val="E9F0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-171] 공부 끝 - 오르비" id="324" name="Google Shape;324;p25"/>
          <p:cNvPicPr preferRelativeResize="0"/>
          <p:nvPr/>
        </p:nvPicPr>
        <p:blipFill rotWithShape="1">
          <a:blip r:embed="rId6">
            <a:alphaModFix/>
          </a:blip>
          <a:srcRect b="0" l="33061" r="0" t="0"/>
          <a:stretch/>
        </p:blipFill>
        <p:spPr>
          <a:xfrm>
            <a:off x="-4" y="6130835"/>
            <a:ext cx="2161443" cy="2098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856F"/>
            </a:gs>
            <a:gs pos="18000">
              <a:srgbClr val="FFC95D"/>
            </a:gs>
            <a:gs pos="35000">
              <a:srgbClr val="FEFE6E"/>
            </a:gs>
            <a:gs pos="52000">
              <a:srgbClr val="B4F999"/>
            </a:gs>
            <a:gs pos="67000">
              <a:srgbClr val="72D6FA"/>
            </a:gs>
            <a:gs pos="83000">
              <a:srgbClr val="6D7BFF"/>
            </a:gs>
            <a:gs pos="100000">
              <a:srgbClr val="FB71B6"/>
            </a:gs>
          </a:gsLst>
          <a:lin ang="2700006" scaled="0"/>
        </a:gra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-171] 공부 끝 - 오르비" id="329" name="Google Shape;329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4135496" y="6130835"/>
            <a:ext cx="2161442" cy="209876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/>
        </p:nvSpPr>
        <p:spPr>
          <a:xfrm>
            <a:off x="3200400" y="3690068"/>
            <a:ext cx="82296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109700" spcFirstLastPara="1" rIns="10970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8585"/>
                </a:solidFill>
                <a:latin typeface="Malgun Gothic"/>
                <a:ea typeface="Malgun Gothic"/>
                <a:cs typeface="Malgun Gothic"/>
                <a:sym typeface="Malgun Gothic"/>
              </a:rPr>
              <a:t>T</a:t>
            </a:r>
            <a:r>
              <a:rPr b="1" lang="en-US" sz="4800">
                <a:solidFill>
                  <a:srgbClr val="FFD44B"/>
                </a:solidFill>
                <a:latin typeface="Malgun Gothic"/>
                <a:ea typeface="Malgun Gothic"/>
                <a:cs typeface="Malgun Gothic"/>
                <a:sym typeface="Malgun Gothic"/>
              </a:rPr>
              <a:t>H</a:t>
            </a:r>
            <a:r>
              <a:rPr b="1" lang="en-US" sz="4800">
                <a:solidFill>
                  <a:srgbClr val="FFFFA7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r>
              <a:rPr b="1" lang="en-US" sz="4800">
                <a:solidFill>
                  <a:srgbClr val="AFDC7E"/>
                </a:solidFill>
                <a:latin typeface="Malgun Gothic"/>
                <a:ea typeface="Malgun Gothic"/>
                <a:cs typeface="Malgun Gothic"/>
                <a:sym typeface="Malgun Gothic"/>
              </a:rPr>
              <a:t>N</a:t>
            </a:r>
            <a:r>
              <a:rPr b="1" lang="en-US" sz="4800">
                <a:solidFill>
                  <a:srgbClr val="2DFF8C"/>
                </a:solidFill>
                <a:latin typeface="Malgun Gothic"/>
                <a:ea typeface="Malgun Gothic"/>
                <a:cs typeface="Malgun Gothic"/>
                <a:sym typeface="Malgun Gothic"/>
              </a:rPr>
              <a:t>K </a:t>
            </a:r>
            <a:r>
              <a:rPr b="1" lang="en-US" sz="4800">
                <a:solidFill>
                  <a:srgbClr val="3FCDFF"/>
                </a:solidFill>
                <a:latin typeface="Malgun Gothic"/>
                <a:ea typeface="Malgun Gothic"/>
                <a:cs typeface="Malgun Gothic"/>
                <a:sym typeface="Malgun Gothic"/>
              </a:rPr>
              <a:t>Y</a:t>
            </a:r>
            <a:r>
              <a:rPr b="1" lang="en-US" sz="4800">
                <a:solidFill>
                  <a:srgbClr val="008DF6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b="1" lang="en-US" sz="4800">
                <a:solidFill>
                  <a:srgbClr val="914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U</a:t>
            </a:r>
            <a:endParaRPr b="1" sz="4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D-171] 공부 끝 - 오르비" id="331" name="Google Shape;331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0" y="6130834"/>
            <a:ext cx="2161443" cy="209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32" name="Google Shape;332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1994956" y="6130832"/>
            <a:ext cx="2161443" cy="2098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33" name="Google Shape;333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10494902" y="6130835"/>
            <a:ext cx="2161443" cy="209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34" name="Google Shape;334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6234478" y="6130834"/>
            <a:ext cx="2161443" cy="209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35" name="Google Shape;335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8458385" y="6130835"/>
            <a:ext cx="2161443" cy="209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36" name="Google Shape;336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>
            <a:off x="12468956" y="6130835"/>
            <a:ext cx="2161443" cy="209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37" name="Google Shape;337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 rot="10800000">
            <a:off x="4135498" y="0"/>
            <a:ext cx="2161442" cy="209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38" name="Google Shape;338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 rot="10800000">
            <a:off x="1" y="-1"/>
            <a:ext cx="2161443" cy="209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39" name="Google Shape;339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 rot="10800000">
            <a:off x="1994957" y="-3"/>
            <a:ext cx="2161443" cy="209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40" name="Google Shape;340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 rot="10800000">
            <a:off x="10494904" y="0"/>
            <a:ext cx="2161443" cy="209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41" name="Google Shape;341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 rot="10800000">
            <a:off x="6234479" y="-1"/>
            <a:ext cx="2161443" cy="209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42" name="Google Shape;342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 rot="10800000">
            <a:off x="8458386" y="0"/>
            <a:ext cx="2161443" cy="2098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-171] 공부 끝 - 오르비" id="343" name="Google Shape;343;p26"/>
          <p:cNvPicPr preferRelativeResize="0"/>
          <p:nvPr/>
        </p:nvPicPr>
        <p:blipFill rotWithShape="1">
          <a:blip r:embed="rId3">
            <a:alphaModFix/>
          </a:blip>
          <a:srcRect b="0" l="33061" r="0" t="0"/>
          <a:stretch/>
        </p:blipFill>
        <p:spPr>
          <a:xfrm rot="10800000">
            <a:off x="12468958" y="0"/>
            <a:ext cx="2161443" cy="2098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979" y="6130837"/>
            <a:ext cx="1360490" cy="1360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81254" y="738287"/>
            <a:ext cx="1360490" cy="1360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